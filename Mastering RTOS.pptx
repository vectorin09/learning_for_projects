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4" r:id="rId6"/>
    <p:sldId id="260" r:id="rId7"/>
    <p:sldId id="261" r:id="rId8"/>
    <p:sldId id="262" r:id="rId9"/>
    <p:sldId id="263"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2CE1479-FB7F-43DF-B7D4-D53A289F1654}">
          <p14:sldIdLst>
            <p14:sldId id="256"/>
            <p14:sldId id="257"/>
            <p14:sldId id="258"/>
            <p14:sldId id="259"/>
            <p14:sldId id="264"/>
            <p14:sldId id="260"/>
            <p14:sldId id="261"/>
            <p14:sldId id="262"/>
            <p14:sldId id="263"/>
            <p14:sldId id="265"/>
            <p14:sldId id="266"/>
            <p14:sldId id="267"/>
            <p14:sldId id="268"/>
            <p14:sldId id="269"/>
            <p14:sldId id="270"/>
            <p14:sldId id="271"/>
            <p14:sldId id="272"/>
            <p14:sldId id="273"/>
            <p14:sldId id="274"/>
            <p14:sldId id="275"/>
            <p14:sldId id="276"/>
            <p14:sldId id="277"/>
            <p14:sldId id="278"/>
            <p14:sldId id="279"/>
            <p14:sldId id="28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59B387-6044-4A52-BDBA-8BCFC512637B}" v="22" dt="2026-04-26T19:16:08.1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gneshwaran S" userId="68398d5ece3ebf04" providerId="LiveId" clId="{4F18C36D-4DBE-4CBA-A4C7-44A3771A6636}"/>
    <pc:docChg chg="custSel addSld modSld modSection">
      <pc:chgData name="vigneshwaran S" userId="68398d5ece3ebf04" providerId="LiveId" clId="{4F18C36D-4DBE-4CBA-A4C7-44A3771A6636}" dt="2026-04-26T19:16:27.859" v="1218" actId="20577"/>
      <pc:docMkLst>
        <pc:docMk/>
      </pc:docMkLst>
      <pc:sldChg chg="modSp new mod">
        <pc:chgData name="vigneshwaran S" userId="68398d5ece3ebf04" providerId="LiveId" clId="{4F18C36D-4DBE-4CBA-A4C7-44A3771A6636}" dt="2026-04-26T17:44:36.836" v="330" actId="20577"/>
        <pc:sldMkLst>
          <pc:docMk/>
          <pc:sldMk cId="3120430787" sldId="275"/>
        </pc:sldMkLst>
        <pc:spChg chg="mod">
          <ac:chgData name="vigneshwaran S" userId="68398d5ece3ebf04" providerId="LiveId" clId="{4F18C36D-4DBE-4CBA-A4C7-44A3771A6636}" dt="2026-04-26T17:40:04.182" v="94" actId="20577"/>
          <ac:spMkLst>
            <pc:docMk/>
            <pc:sldMk cId="3120430787" sldId="275"/>
            <ac:spMk id="2" creationId="{9080A64F-15CA-D0A2-08F9-B609EA03B1BC}"/>
          </ac:spMkLst>
        </pc:spChg>
        <pc:spChg chg="mod">
          <ac:chgData name="vigneshwaran S" userId="68398d5ece3ebf04" providerId="LiveId" clId="{4F18C36D-4DBE-4CBA-A4C7-44A3771A6636}" dt="2026-04-26T17:44:36.836" v="330" actId="20577"/>
          <ac:spMkLst>
            <pc:docMk/>
            <pc:sldMk cId="3120430787" sldId="275"/>
            <ac:spMk id="3" creationId="{17BC4772-5AF3-8D32-BD50-2F79AD7D0283}"/>
          </ac:spMkLst>
        </pc:spChg>
      </pc:sldChg>
      <pc:sldChg chg="modSp new mod">
        <pc:chgData name="vigneshwaran S" userId="68398d5ece3ebf04" providerId="LiveId" clId="{4F18C36D-4DBE-4CBA-A4C7-44A3771A6636}" dt="2026-04-26T17:50:54.730" v="729" actId="20577"/>
        <pc:sldMkLst>
          <pc:docMk/>
          <pc:sldMk cId="4108499290" sldId="276"/>
        </pc:sldMkLst>
        <pc:spChg chg="mod">
          <ac:chgData name="vigneshwaran S" userId="68398d5ece3ebf04" providerId="LiveId" clId="{4F18C36D-4DBE-4CBA-A4C7-44A3771A6636}" dt="2026-04-26T17:47:35.133" v="362" actId="20577"/>
          <ac:spMkLst>
            <pc:docMk/>
            <pc:sldMk cId="4108499290" sldId="276"/>
            <ac:spMk id="2" creationId="{636BE4AB-11C1-4E23-0DB9-DB857B4DA9A0}"/>
          </ac:spMkLst>
        </pc:spChg>
        <pc:spChg chg="mod">
          <ac:chgData name="vigneshwaran S" userId="68398d5ece3ebf04" providerId="LiveId" clId="{4F18C36D-4DBE-4CBA-A4C7-44A3771A6636}" dt="2026-04-26T17:50:54.730" v="729" actId="20577"/>
          <ac:spMkLst>
            <pc:docMk/>
            <pc:sldMk cId="4108499290" sldId="276"/>
            <ac:spMk id="3" creationId="{A7789F19-4267-B17E-B926-DE279C602863}"/>
          </ac:spMkLst>
        </pc:spChg>
      </pc:sldChg>
      <pc:sldChg chg="modSp new mod">
        <pc:chgData name="vigneshwaran S" userId="68398d5ece3ebf04" providerId="LiveId" clId="{4F18C36D-4DBE-4CBA-A4C7-44A3771A6636}" dt="2026-04-26T18:58:59.794" v="1057" actId="20577"/>
        <pc:sldMkLst>
          <pc:docMk/>
          <pc:sldMk cId="2413662492" sldId="277"/>
        </pc:sldMkLst>
        <pc:spChg chg="mod">
          <ac:chgData name="vigneshwaran S" userId="68398d5ece3ebf04" providerId="LiveId" clId="{4F18C36D-4DBE-4CBA-A4C7-44A3771A6636}" dt="2026-04-26T18:56:49.279" v="993" actId="20577"/>
          <ac:spMkLst>
            <pc:docMk/>
            <pc:sldMk cId="2413662492" sldId="277"/>
            <ac:spMk id="2" creationId="{A22F3DCD-62BC-ED18-F6BE-56D73A61BA21}"/>
          </ac:spMkLst>
        </pc:spChg>
        <pc:spChg chg="mod">
          <ac:chgData name="vigneshwaran S" userId="68398d5ece3ebf04" providerId="LiveId" clId="{4F18C36D-4DBE-4CBA-A4C7-44A3771A6636}" dt="2026-04-26T18:58:59.794" v="1057" actId="20577"/>
          <ac:spMkLst>
            <pc:docMk/>
            <pc:sldMk cId="2413662492" sldId="277"/>
            <ac:spMk id="3" creationId="{65A5B7BC-4C1D-35F9-F565-9A9FFDA595AC}"/>
          </ac:spMkLst>
        </pc:spChg>
      </pc:sldChg>
      <pc:sldChg chg="modSp new mod">
        <pc:chgData name="vigneshwaran S" userId="68398d5ece3ebf04" providerId="LiveId" clId="{4F18C36D-4DBE-4CBA-A4C7-44A3771A6636}" dt="2026-04-26T19:16:27.859" v="1218" actId="20577"/>
        <pc:sldMkLst>
          <pc:docMk/>
          <pc:sldMk cId="3526634861" sldId="278"/>
        </pc:sldMkLst>
        <pc:spChg chg="mod">
          <ac:chgData name="vigneshwaran S" userId="68398d5ece3ebf04" providerId="LiveId" clId="{4F18C36D-4DBE-4CBA-A4C7-44A3771A6636}" dt="2026-04-26T19:00:09.863" v="1094" actId="20577"/>
          <ac:spMkLst>
            <pc:docMk/>
            <pc:sldMk cId="3526634861" sldId="278"/>
            <ac:spMk id="2" creationId="{2337D8ED-12C5-6FC4-7FF3-2AF343314297}"/>
          </ac:spMkLst>
        </pc:spChg>
        <pc:spChg chg="mod">
          <ac:chgData name="vigneshwaran S" userId="68398d5ece3ebf04" providerId="LiveId" clId="{4F18C36D-4DBE-4CBA-A4C7-44A3771A6636}" dt="2026-04-26T19:16:27.859" v="1218" actId="20577"/>
          <ac:spMkLst>
            <pc:docMk/>
            <pc:sldMk cId="3526634861" sldId="278"/>
            <ac:spMk id="3" creationId="{506B4843-37B6-059C-C73E-DBCD57545C12}"/>
          </ac:spMkLst>
        </pc:spChg>
      </pc:sldChg>
      <pc:sldChg chg="modSp new mod">
        <pc:chgData name="vigneshwaran S" userId="68398d5ece3ebf04" providerId="LiveId" clId="{4F18C36D-4DBE-4CBA-A4C7-44A3771A6636}" dt="2026-04-26T19:15:39.058" v="1216" actId="20577"/>
        <pc:sldMkLst>
          <pc:docMk/>
          <pc:sldMk cId="4043215726" sldId="279"/>
        </pc:sldMkLst>
        <pc:spChg chg="mod">
          <ac:chgData name="vigneshwaran S" userId="68398d5ece3ebf04" providerId="LiveId" clId="{4F18C36D-4DBE-4CBA-A4C7-44A3771A6636}" dt="2026-04-26T19:12:37.382" v="1152" actId="20577"/>
          <ac:spMkLst>
            <pc:docMk/>
            <pc:sldMk cId="4043215726" sldId="279"/>
            <ac:spMk id="2" creationId="{D6EDD7E5-3AB6-3534-056B-3F5DA50932D1}"/>
          </ac:spMkLst>
        </pc:spChg>
        <pc:spChg chg="mod">
          <ac:chgData name="vigneshwaran S" userId="68398d5ece3ebf04" providerId="LiveId" clId="{4F18C36D-4DBE-4CBA-A4C7-44A3771A6636}" dt="2026-04-26T19:15:39.058" v="1216" actId="20577"/>
          <ac:spMkLst>
            <pc:docMk/>
            <pc:sldMk cId="4043215726" sldId="279"/>
            <ac:spMk id="3" creationId="{AB15B92E-36E2-DA42-FA93-3BAA2D5D8C7E}"/>
          </ac:spMkLst>
        </pc:spChg>
      </pc:sldChg>
      <pc:sldChg chg="new">
        <pc:chgData name="vigneshwaran S" userId="68398d5ece3ebf04" providerId="LiveId" clId="{4F18C36D-4DBE-4CBA-A4C7-44A3771A6636}" dt="2026-04-26T19:16:20.296" v="1217" actId="680"/>
        <pc:sldMkLst>
          <pc:docMk/>
          <pc:sldMk cId="1680389663" sldId="28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F9BCF-C7D2-8153-4DAC-99156B0FB75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327DE7A5-8EA1-1B55-DC84-BF9C17CE7F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F69B84E9-56C2-8A40-2F51-88BD56764172}"/>
              </a:ext>
            </a:extLst>
          </p:cNvPr>
          <p:cNvSpPr>
            <a:spLocks noGrp="1"/>
          </p:cNvSpPr>
          <p:nvPr>
            <p:ph type="dt" sz="half" idx="10"/>
          </p:nvPr>
        </p:nvSpPr>
        <p:spPr/>
        <p:txBody>
          <a:bodyPr/>
          <a:lstStyle/>
          <a:p>
            <a:fld id="{610704D6-C39E-453D-B185-38F73ED4C06D}" type="datetimeFigureOut">
              <a:rPr lang="en-IN" smtClean="0"/>
              <a:t>26-04-2026</a:t>
            </a:fld>
            <a:endParaRPr lang="en-IN"/>
          </a:p>
        </p:txBody>
      </p:sp>
      <p:sp>
        <p:nvSpPr>
          <p:cNvPr id="5" name="Footer Placeholder 4">
            <a:extLst>
              <a:ext uri="{FF2B5EF4-FFF2-40B4-BE49-F238E27FC236}">
                <a16:creationId xmlns:a16="http://schemas.microsoft.com/office/drawing/2014/main" id="{A421A391-CFD1-C34A-97C1-3CAC2AC83E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48C376-F40F-FB81-4219-EB3371F3770D}"/>
              </a:ext>
            </a:extLst>
          </p:cNvPr>
          <p:cNvSpPr>
            <a:spLocks noGrp="1"/>
          </p:cNvSpPr>
          <p:nvPr>
            <p:ph type="sldNum" sz="quarter" idx="12"/>
          </p:nvPr>
        </p:nvSpPr>
        <p:spPr/>
        <p:txBody>
          <a:bodyPr/>
          <a:lstStyle/>
          <a:p>
            <a:fld id="{FA264A71-A316-4A71-A286-257B5AC587D2}" type="slidenum">
              <a:rPr lang="en-IN" smtClean="0"/>
              <a:t>‹#›</a:t>
            </a:fld>
            <a:endParaRPr lang="en-IN"/>
          </a:p>
        </p:txBody>
      </p:sp>
    </p:spTree>
    <p:extLst>
      <p:ext uri="{BB962C8B-B14F-4D97-AF65-F5344CB8AC3E}">
        <p14:creationId xmlns:p14="http://schemas.microsoft.com/office/powerpoint/2010/main" val="3807552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F0F84-DBEF-240E-E131-5F692C0EF5EF}"/>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37FEB872-8391-6C99-EB7B-D839480013A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6BA308D9-7299-336D-BAF9-4BA811C6FD15}"/>
              </a:ext>
            </a:extLst>
          </p:cNvPr>
          <p:cNvSpPr>
            <a:spLocks noGrp="1"/>
          </p:cNvSpPr>
          <p:nvPr>
            <p:ph type="dt" sz="half" idx="10"/>
          </p:nvPr>
        </p:nvSpPr>
        <p:spPr/>
        <p:txBody>
          <a:bodyPr/>
          <a:lstStyle/>
          <a:p>
            <a:fld id="{610704D6-C39E-453D-B185-38F73ED4C06D}" type="datetimeFigureOut">
              <a:rPr lang="en-IN" smtClean="0"/>
              <a:t>26-04-2026</a:t>
            </a:fld>
            <a:endParaRPr lang="en-IN"/>
          </a:p>
        </p:txBody>
      </p:sp>
      <p:sp>
        <p:nvSpPr>
          <p:cNvPr id="5" name="Footer Placeholder 4">
            <a:extLst>
              <a:ext uri="{FF2B5EF4-FFF2-40B4-BE49-F238E27FC236}">
                <a16:creationId xmlns:a16="http://schemas.microsoft.com/office/drawing/2014/main" id="{D6773F4B-C10B-9A77-EA2B-9509C4B99C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651307-A7C5-FB25-BEF5-C2B42EA67675}"/>
              </a:ext>
            </a:extLst>
          </p:cNvPr>
          <p:cNvSpPr>
            <a:spLocks noGrp="1"/>
          </p:cNvSpPr>
          <p:nvPr>
            <p:ph type="sldNum" sz="quarter" idx="12"/>
          </p:nvPr>
        </p:nvSpPr>
        <p:spPr/>
        <p:txBody>
          <a:bodyPr/>
          <a:lstStyle/>
          <a:p>
            <a:fld id="{FA264A71-A316-4A71-A286-257B5AC587D2}" type="slidenum">
              <a:rPr lang="en-IN" smtClean="0"/>
              <a:t>‹#›</a:t>
            </a:fld>
            <a:endParaRPr lang="en-IN"/>
          </a:p>
        </p:txBody>
      </p:sp>
    </p:spTree>
    <p:extLst>
      <p:ext uri="{BB962C8B-B14F-4D97-AF65-F5344CB8AC3E}">
        <p14:creationId xmlns:p14="http://schemas.microsoft.com/office/powerpoint/2010/main" val="328640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8FDB8-2D29-5D28-63D5-00A9DB259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C3649ACB-593D-DBD4-2F3C-A7CE012640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5782ECC-C993-EBE8-82E7-0782FF887CA6}"/>
              </a:ext>
            </a:extLst>
          </p:cNvPr>
          <p:cNvSpPr>
            <a:spLocks noGrp="1"/>
          </p:cNvSpPr>
          <p:nvPr>
            <p:ph type="dt" sz="half" idx="10"/>
          </p:nvPr>
        </p:nvSpPr>
        <p:spPr/>
        <p:txBody>
          <a:bodyPr/>
          <a:lstStyle/>
          <a:p>
            <a:fld id="{610704D6-C39E-453D-B185-38F73ED4C06D}" type="datetimeFigureOut">
              <a:rPr lang="en-IN" smtClean="0"/>
              <a:t>26-04-2026</a:t>
            </a:fld>
            <a:endParaRPr lang="en-IN"/>
          </a:p>
        </p:txBody>
      </p:sp>
      <p:sp>
        <p:nvSpPr>
          <p:cNvPr id="5" name="Footer Placeholder 4">
            <a:extLst>
              <a:ext uri="{FF2B5EF4-FFF2-40B4-BE49-F238E27FC236}">
                <a16:creationId xmlns:a16="http://schemas.microsoft.com/office/drawing/2014/main" id="{B4726170-0015-EB43-2DF1-2F12F61AAA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DB8E0A-0880-3FE8-E600-972CE5FFC4FF}"/>
              </a:ext>
            </a:extLst>
          </p:cNvPr>
          <p:cNvSpPr>
            <a:spLocks noGrp="1"/>
          </p:cNvSpPr>
          <p:nvPr>
            <p:ph type="sldNum" sz="quarter" idx="12"/>
          </p:nvPr>
        </p:nvSpPr>
        <p:spPr/>
        <p:txBody>
          <a:bodyPr/>
          <a:lstStyle/>
          <a:p>
            <a:fld id="{FA264A71-A316-4A71-A286-257B5AC587D2}" type="slidenum">
              <a:rPr lang="en-IN" smtClean="0"/>
              <a:t>‹#›</a:t>
            </a:fld>
            <a:endParaRPr lang="en-IN"/>
          </a:p>
        </p:txBody>
      </p:sp>
    </p:spTree>
    <p:extLst>
      <p:ext uri="{BB962C8B-B14F-4D97-AF65-F5344CB8AC3E}">
        <p14:creationId xmlns:p14="http://schemas.microsoft.com/office/powerpoint/2010/main" val="312852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A2080-828B-C150-25F8-D83ED3772BBA}"/>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CDD5EC15-F434-53B7-788B-B968D4AF3D4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11BE438B-B163-61B6-692C-C988A5190B4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08DA7788-1B69-942B-3B53-BEA5B9C8D758}"/>
              </a:ext>
            </a:extLst>
          </p:cNvPr>
          <p:cNvSpPr>
            <a:spLocks noGrp="1"/>
          </p:cNvSpPr>
          <p:nvPr>
            <p:ph type="dt" sz="half" idx="10"/>
          </p:nvPr>
        </p:nvSpPr>
        <p:spPr/>
        <p:txBody>
          <a:bodyPr/>
          <a:lstStyle/>
          <a:p>
            <a:fld id="{610704D6-C39E-453D-B185-38F73ED4C06D}" type="datetimeFigureOut">
              <a:rPr lang="en-IN" smtClean="0"/>
              <a:t>26-04-2026</a:t>
            </a:fld>
            <a:endParaRPr lang="en-IN"/>
          </a:p>
        </p:txBody>
      </p:sp>
      <p:sp>
        <p:nvSpPr>
          <p:cNvPr id="6" name="Footer Placeholder 5">
            <a:extLst>
              <a:ext uri="{FF2B5EF4-FFF2-40B4-BE49-F238E27FC236}">
                <a16:creationId xmlns:a16="http://schemas.microsoft.com/office/drawing/2014/main" id="{C5F1FD66-2D5A-494D-BE36-5E53896C25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DF815D-A596-C734-348B-88BAC03AE599}"/>
              </a:ext>
            </a:extLst>
          </p:cNvPr>
          <p:cNvSpPr>
            <a:spLocks noGrp="1"/>
          </p:cNvSpPr>
          <p:nvPr>
            <p:ph type="sldNum" sz="quarter" idx="12"/>
          </p:nvPr>
        </p:nvSpPr>
        <p:spPr/>
        <p:txBody>
          <a:bodyPr/>
          <a:lstStyle/>
          <a:p>
            <a:fld id="{FA264A71-A316-4A71-A286-257B5AC587D2}" type="slidenum">
              <a:rPr lang="en-IN" smtClean="0"/>
              <a:t>‹#›</a:t>
            </a:fld>
            <a:endParaRPr lang="en-IN"/>
          </a:p>
        </p:txBody>
      </p:sp>
    </p:spTree>
    <p:extLst>
      <p:ext uri="{BB962C8B-B14F-4D97-AF65-F5344CB8AC3E}">
        <p14:creationId xmlns:p14="http://schemas.microsoft.com/office/powerpoint/2010/main" val="1767085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639A7-AB8D-1D94-DFA6-F1EE36CA1CB0}"/>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4EFEA606-D726-8095-0596-C5DF846C3F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CE38588-9F9B-EFE6-D132-D245358C2B9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79F41536-0496-6FDE-D25D-DA5275179D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96DC20E-1F64-4886-11BC-4E5B0592EBB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7BF89360-F94D-6295-4650-FF3E26A96AFB}"/>
              </a:ext>
            </a:extLst>
          </p:cNvPr>
          <p:cNvSpPr>
            <a:spLocks noGrp="1"/>
          </p:cNvSpPr>
          <p:nvPr>
            <p:ph type="dt" sz="half" idx="10"/>
          </p:nvPr>
        </p:nvSpPr>
        <p:spPr/>
        <p:txBody>
          <a:bodyPr/>
          <a:lstStyle/>
          <a:p>
            <a:fld id="{610704D6-C39E-453D-B185-38F73ED4C06D}" type="datetimeFigureOut">
              <a:rPr lang="en-IN" smtClean="0"/>
              <a:t>26-04-2026</a:t>
            </a:fld>
            <a:endParaRPr lang="en-IN"/>
          </a:p>
        </p:txBody>
      </p:sp>
      <p:sp>
        <p:nvSpPr>
          <p:cNvPr id="8" name="Footer Placeholder 7">
            <a:extLst>
              <a:ext uri="{FF2B5EF4-FFF2-40B4-BE49-F238E27FC236}">
                <a16:creationId xmlns:a16="http://schemas.microsoft.com/office/drawing/2014/main" id="{72640F4C-F857-DE53-EF52-940AE8FFDCC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55C8E3A-9F05-6214-09A3-6E183428E8E2}"/>
              </a:ext>
            </a:extLst>
          </p:cNvPr>
          <p:cNvSpPr>
            <a:spLocks noGrp="1"/>
          </p:cNvSpPr>
          <p:nvPr>
            <p:ph type="sldNum" sz="quarter" idx="12"/>
          </p:nvPr>
        </p:nvSpPr>
        <p:spPr/>
        <p:txBody>
          <a:bodyPr/>
          <a:lstStyle/>
          <a:p>
            <a:fld id="{FA264A71-A316-4A71-A286-257B5AC587D2}" type="slidenum">
              <a:rPr lang="en-IN" smtClean="0"/>
              <a:t>‹#›</a:t>
            </a:fld>
            <a:endParaRPr lang="en-IN"/>
          </a:p>
        </p:txBody>
      </p:sp>
    </p:spTree>
    <p:extLst>
      <p:ext uri="{BB962C8B-B14F-4D97-AF65-F5344CB8AC3E}">
        <p14:creationId xmlns:p14="http://schemas.microsoft.com/office/powerpoint/2010/main" val="3818403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14366-E65F-9FA7-F9E0-1B660A328BF8}"/>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5A98A463-805D-63E7-DD90-ED1DEC81391B}"/>
              </a:ext>
            </a:extLst>
          </p:cNvPr>
          <p:cNvSpPr>
            <a:spLocks noGrp="1"/>
          </p:cNvSpPr>
          <p:nvPr>
            <p:ph type="dt" sz="half" idx="10"/>
          </p:nvPr>
        </p:nvSpPr>
        <p:spPr/>
        <p:txBody>
          <a:bodyPr/>
          <a:lstStyle/>
          <a:p>
            <a:fld id="{610704D6-C39E-453D-B185-38F73ED4C06D}" type="datetimeFigureOut">
              <a:rPr lang="en-IN" smtClean="0"/>
              <a:t>26-04-2026</a:t>
            </a:fld>
            <a:endParaRPr lang="en-IN"/>
          </a:p>
        </p:txBody>
      </p:sp>
      <p:sp>
        <p:nvSpPr>
          <p:cNvPr id="4" name="Footer Placeholder 3">
            <a:extLst>
              <a:ext uri="{FF2B5EF4-FFF2-40B4-BE49-F238E27FC236}">
                <a16:creationId xmlns:a16="http://schemas.microsoft.com/office/drawing/2014/main" id="{B98F7F88-7B0F-1866-530A-0FA934F7ACC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3C587F4-8A5B-6AF4-067D-ECDA7932C574}"/>
              </a:ext>
            </a:extLst>
          </p:cNvPr>
          <p:cNvSpPr>
            <a:spLocks noGrp="1"/>
          </p:cNvSpPr>
          <p:nvPr>
            <p:ph type="sldNum" sz="quarter" idx="12"/>
          </p:nvPr>
        </p:nvSpPr>
        <p:spPr/>
        <p:txBody>
          <a:bodyPr/>
          <a:lstStyle/>
          <a:p>
            <a:fld id="{FA264A71-A316-4A71-A286-257B5AC587D2}" type="slidenum">
              <a:rPr lang="en-IN" smtClean="0"/>
              <a:t>‹#›</a:t>
            </a:fld>
            <a:endParaRPr lang="en-IN"/>
          </a:p>
        </p:txBody>
      </p:sp>
    </p:spTree>
    <p:extLst>
      <p:ext uri="{BB962C8B-B14F-4D97-AF65-F5344CB8AC3E}">
        <p14:creationId xmlns:p14="http://schemas.microsoft.com/office/powerpoint/2010/main" val="3016693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EF7D6F-026B-B1DA-7D45-EAD06B7848F6}"/>
              </a:ext>
            </a:extLst>
          </p:cNvPr>
          <p:cNvSpPr>
            <a:spLocks noGrp="1"/>
          </p:cNvSpPr>
          <p:nvPr>
            <p:ph type="dt" sz="half" idx="10"/>
          </p:nvPr>
        </p:nvSpPr>
        <p:spPr/>
        <p:txBody>
          <a:bodyPr/>
          <a:lstStyle/>
          <a:p>
            <a:fld id="{610704D6-C39E-453D-B185-38F73ED4C06D}" type="datetimeFigureOut">
              <a:rPr lang="en-IN" smtClean="0"/>
              <a:t>26-04-2026</a:t>
            </a:fld>
            <a:endParaRPr lang="en-IN"/>
          </a:p>
        </p:txBody>
      </p:sp>
      <p:sp>
        <p:nvSpPr>
          <p:cNvPr id="3" name="Footer Placeholder 2">
            <a:extLst>
              <a:ext uri="{FF2B5EF4-FFF2-40B4-BE49-F238E27FC236}">
                <a16:creationId xmlns:a16="http://schemas.microsoft.com/office/drawing/2014/main" id="{77BFC615-80AC-11FD-B96B-FB20812561B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487A04-BF73-8B07-5CBC-EE9949F123F2}"/>
              </a:ext>
            </a:extLst>
          </p:cNvPr>
          <p:cNvSpPr>
            <a:spLocks noGrp="1"/>
          </p:cNvSpPr>
          <p:nvPr>
            <p:ph type="sldNum" sz="quarter" idx="12"/>
          </p:nvPr>
        </p:nvSpPr>
        <p:spPr/>
        <p:txBody>
          <a:bodyPr/>
          <a:lstStyle/>
          <a:p>
            <a:fld id="{FA264A71-A316-4A71-A286-257B5AC587D2}" type="slidenum">
              <a:rPr lang="en-IN" smtClean="0"/>
              <a:t>‹#›</a:t>
            </a:fld>
            <a:endParaRPr lang="en-IN"/>
          </a:p>
        </p:txBody>
      </p:sp>
    </p:spTree>
    <p:extLst>
      <p:ext uri="{BB962C8B-B14F-4D97-AF65-F5344CB8AC3E}">
        <p14:creationId xmlns:p14="http://schemas.microsoft.com/office/powerpoint/2010/main" val="455031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7BAE1-515A-1E4D-954E-4FBDDE0175C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827C406A-0F94-8E6A-1D1B-A38101E702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2C5A7DEC-A979-694E-B825-544D6A4C5A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6E5ADF4-33AA-7E15-6DA9-A9E5838460C6}"/>
              </a:ext>
            </a:extLst>
          </p:cNvPr>
          <p:cNvSpPr>
            <a:spLocks noGrp="1"/>
          </p:cNvSpPr>
          <p:nvPr>
            <p:ph type="dt" sz="half" idx="10"/>
          </p:nvPr>
        </p:nvSpPr>
        <p:spPr/>
        <p:txBody>
          <a:bodyPr/>
          <a:lstStyle/>
          <a:p>
            <a:fld id="{610704D6-C39E-453D-B185-38F73ED4C06D}" type="datetimeFigureOut">
              <a:rPr lang="en-IN" smtClean="0"/>
              <a:t>26-04-2026</a:t>
            </a:fld>
            <a:endParaRPr lang="en-IN"/>
          </a:p>
        </p:txBody>
      </p:sp>
      <p:sp>
        <p:nvSpPr>
          <p:cNvPr id="6" name="Footer Placeholder 5">
            <a:extLst>
              <a:ext uri="{FF2B5EF4-FFF2-40B4-BE49-F238E27FC236}">
                <a16:creationId xmlns:a16="http://schemas.microsoft.com/office/drawing/2014/main" id="{B420F119-C13E-0B26-6E78-135ACAE68B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67D5C16-87B0-8A23-1029-1E39A507214C}"/>
              </a:ext>
            </a:extLst>
          </p:cNvPr>
          <p:cNvSpPr>
            <a:spLocks noGrp="1"/>
          </p:cNvSpPr>
          <p:nvPr>
            <p:ph type="sldNum" sz="quarter" idx="12"/>
          </p:nvPr>
        </p:nvSpPr>
        <p:spPr/>
        <p:txBody>
          <a:bodyPr/>
          <a:lstStyle/>
          <a:p>
            <a:fld id="{FA264A71-A316-4A71-A286-257B5AC587D2}" type="slidenum">
              <a:rPr lang="en-IN" smtClean="0"/>
              <a:t>‹#›</a:t>
            </a:fld>
            <a:endParaRPr lang="en-IN"/>
          </a:p>
        </p:txBody>
      </p:sp>
    </p:spTree>
    <p:extLst>
      <p:ext uri="{BB962C8B-B14F-4D97-AF65-F5344CB8AC3E}">
        <p14:creationId xmlns:p14="http://schemas.microsoft.com/office/powerpoint/2010/main" val="38659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6A3B3-5EF0-63ED-D42B-5BC8794C9D0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45585995-5BC5-753F-490E-1433ABAF28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369A23D-A99D-17BC-CEAD-A8CB7B8F28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816D146-4184-75C6-024D-4CCE0D6F9892}"/>
              </a:ext>
            </a:extLst>
          </p:cNvPr>
          <p:cNvSpPr>
            <a:spLocks noGrp="1"/>
          </p:cNvSpPr>
          <p:nvPr>
            <p:ph type="dt" sz="half" idx="10"/>
          </p:nvPr>
        </p:nvSpPr>
        <p:spPr/>
        <p:txBody>
          <a:bodyPr/>
          <a:lstStyle/>
          <a:p>
            <a:fld id="{610704D6-C39E-453D-B185-38F73ED4C06D}" type="datetimeFigureOut">
              <a:rPr lang="en-IN" smtClean="0"/>
              <a:t>26-04-2026</a:t>
            </a:fld>
            <a:endParaRPr lang="en-IN"/>
          </a:p>
        </p:txBody>
      </p:sp>
      <p:sp>
        <p:nvSpPr>
          <p:cNvPr id="6" name="Footer Placeholder 5">
            <a:extLst>
              <a:ext uri="{FF2B5EF4-FFF2-40B4-BE49-F238E27FC236}">
                <a16:creationId xmlns:a16="http://schemas.microsoft.com/office/drawing/2014/main" id="{2F8BA2DC-FEB0-03C1-DF8E-40E4673E37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03E060-A119-958A-1166-36C46E3974F4}"/>
              </a:ext>
            </a:extLst>
          </p:cNvPr>
          <p:cNvSpPr>
            <a:spLocks noGrp="1"/>
          </p:cNvSpPr>
          <p:nvPr>
            <p:ph type="sldNum" sz="quarter" idx="12"/>
          </p:nvPr>
        </p:nvSpPr>
        <p:spPr/>
        <p:txBody>
          <a:bodyPr/>
          <a:lstStyle/>
          <a:p>
            <a:fld id="{FA264A71-A316-4A71-A286-257B5AC587D2}" type="slidenum">
              <a:rPr lang="en-IN" smtClean="0"/>
              <a:t>‹#›</a:t>
            </a:fld>
            <a:endParaRPr lang="en-IN"/>
          </a:p>
        </p:txBody>
      </p:sp>
    </p:spTree>
    <p:extLst>
      <p:ext uri="{BB962C8B-B14F-4D97-AF65-F5344CB8AC3E}">
        <p14:creationId xmlns:p14="http://schemas.microsoft.com/office/powerpoint/2010/main" val="353658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49B6F-391F-38CA-6DE0-D5ED323BF149}"/>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349981F8-4B84-043D-35F5-E78CFDAFD3D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90D7FFD2-E343-4440-33CE-3AD2FDD369D4}"/>
              </a:ext>
            </a:extLst>
          </p:cNvPr>
          <p:cNvSpPr>
            <a:spLocks noGrp="1"/>
          </p:cNvSpPr>
          <p:nvPr>
            <p:ph type="dt" sz="half" idx="10"/>
          </p:nvPr>
        </p:nvSpPr>
        <p:spPr/>
        <p:txBody>
          <a:bodyPr/>
          <a:lstStyle/>
          <a:p>
            <a:fld id="{610704D6-C39E-453D-B185-38F73ED4C06D}" type="datetimeFigureOut">
              <a:rPr lang="en-IN" smtClean="0"/>
              <a:t>26-04-2026</a:t>
            </a:fld>
            <a:endParaRPr lang="en-IN"/>
          </a:p>
        </p:txBody>
      </p:sp>
      <p:sp>
        <p:nvSpPr>
          <p:cNvPr id="5" name="Footer Placeholder 4">
            <a:extLst>
              <a:ext uri="{FF2B5EF4-FFF2-40B4-BE49-F238E27FC236}">
                <a16:creationId xmlns:a16="http://schemas.microsoft.com/office/drawing/2014/main" id="{A48CE28B-DA26-DDCA-ECCE-5302AA1AF3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C7EEB1-D72F-3A37-B25D-E7E043AFB99F}"/>
              </a:ext>
            </a:extLst>
          </p:cNvPr>
          <p:cNvSpPr>
            <a:spLocks noGrp="1"/>
          </p:cNvSpPr>
          <p:nvPr>
            <p:ph type="sldNum" sz="quarter" idx="12"/>
          </p:nvPr>
        </p:nvSpPr>
        <p:spPr/>
        <p:txBody>
          <a:bodyPr/>
          <a:lstStyle/>
          <a:p>
            <a:fld id="{FA264A71-A316-4A71-A286-257B5AC587D2}" type="slidenum">
              <a:rPr lang="en-IN" smtClean="0"/>
              <a:t>‹#›</a:t>
            </a:fld>
            <a:endParaRPr lang="en-IN"/>
          </a:p>
        </p:txBody>
      </p:sp>
    </p:spTree>
    <p:extLst>
      <p:ext uri="{BB962C8B-B14F-4D97-AF65-F5344CB8AC3E}">
        <p14:creationId xmlns:p14="http://schemas.microsoft.com/office/powerpoint/2010/main" val="3052904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990371-DF7E-D754-C009-652205DF8DD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66D8242E-5B24-58ED-3F47-CF50884DF33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F9770E6E-A937-F29C-FF00-D7DFBA2BCA65}"/>
              </a:ext>
            </a:extLst>
          </p:cNvPr>
          <p:cNvSpPr>
            <a:spLocks noGrp="1"/>
          </p:cNvSpPr>
          <p:nvPr>
            <p:ph type="dt" sz="half" idx="10"/>
          </p:nvPr>
        </p:nvSpPr>
        <p:spPr/>
        <p:txBody>
          <a:bodyPr/>
          <a:lstStyle/>
          <a:p>
            <a:fld id="{610704D6-C39E-453D-B185-38F73ED4C06D}" type="datetimeFigureOut">
              <a:rPr lang="en-IN" smtClean="0"/>
              <a:t>26-04-2026</a:t>
            </a:fld>
            <a:endParaRPr lang="en-IN"/>
          </a:p>
        </p:txBody>
      </p:sp>
      <p:sp>
        <p:nvSpPr>
          <p:cNvPr id="5" name="Footer Placeholder 4">
            <a:extLst>
              <a:ext uri="{FF2B5EF4-FFF2-40B4-BE49-F238E27FC236}">
                <a16:creationId xmlns:a16="http://schemas.microsoft.com/office/drawing/2014/main" id="{3BE17B37-F20D-1469-52F4-40FA093709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71B6A8-AB52-6F6A-369B-F8465C140C83}"/>
              </a:ext>
            </a:extLst>
          </p:cNvPr>
          <p:cNvSpPr>
            <a:spLocks noGrp="1"/>
          </p:cNvSpPr>
          <p:nvPr>
            <p:ph type="sldNum" sz="quarter" idx="12"/>
          </p:nvPr>
        </p:nvSpPr>
        <p:spPr/>
        <p:txBody>
          <a:bodyPr/>
          <a:lstStyle/>
          <a:p>
            <a:fld id="{FA264A71-A316-4A71-A286-257B5AC587D2}" type="slidenum">
              <a:rPr lang="en-IN" smtClean="0"/>
              <a:t>‹#›</a:t>
            </a:fld>
            <a:endParaRPr lang="en-IN"/>
          </a:p>
        </p:txBody>
      </p:sp>
    </p:spTree>
    <p:extLst>
      <p:ext uri="{BB962C8B-B14F-4D97-AF65-F5344CB8AC3E}">
        <p14:creationId xmlns:p14="http://schemas.microsoft.com/office/powerpoint/2010/main" val="1125528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5B74C6-733B-0892-63C4-243B3487D1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A3236063-62F2-77C9-9207-7EB9C43E6E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0E7F1D65-B601-8DE0-22F2-CF2DD6E5AC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10704D6-C39E-453D-B185-38F73ED4C06D}" type="datetimeFigureOut">
              <a:rPr lang="en-IN" smtClean="0"/>
              <a:t>26-04-2026</a:t>
            </a:fld>
            <a:endParaRPr lang="en-IN"/>
          </a:p>
        </p:txBody>
      </p:sp>
      <p:sp>
        <p:nvSpPr>
          <p:cNvPr id="5" name="Footer Placeholder 4">
            <a:extLst>
              <a:ext uri="{FF2B5EF4-FFF2-40B4-BE49-F238E27FC236}">
                <a16:creationId xmlns:a16="http://schemas.microsoft.com/office/drawing/2014/main" id="{E3E6B925-F13D-0A30-B3B7-045AF1CDD9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500DF8A-B765-89F6-F7C8-26E99E8E84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A264A71-A316-4A71-A286-257B5AC587D2}" type="slidenum">
              <a:rPr lang="en-IN" smtClean="0"/>
              <a:t>‹#›</a:t>
            </a:fld>
            <a:endParaRPr lang="en-IN"/>
          </a:p>
        </p:txBody>
      </p:sp>
    </p:spTree>
    <p:extLst>
      <p:ext uri="{BB962C8B-B14F-4D97-AF65-F5344CB8AC3E}">
        <p14:creationId xmlns:p14="http://schemas.microsoft.com/office/powerpoint/2010/main" val="35424015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EA479-72EA-8D6A-314E-FCC93A83524E}"/>
              </a:ext>
            </a:extLst>
          </p:cNvPr>
          <p:cNvSpPr>
            <a:spLocks noGrp="1"/>
          </p:cNvSpPr>
          <p:nvPr>
            <p:ph type="ctrTitle"/>
          </p:nvPr>
        </p:nvSpPr>
        <p:spPr/>
        <p:txBody>
          <a:bodyPr/>
          <a:lstStyle/>
          <a:p>
            <a:r>
              <a:rPr lang="en-GB" dirty="0"/>
              <a:t>REAL TIME OPERATING SYSTEMS</a:t>
            </a:r>
            <a:endParaRPr lang="en-IN" dirty="0"/>
          </a:p>
        </p:txBody>
      </p:sp>
      <p:sp>
        <p:nvSpPr>
          <p:cNvPr id="3" name="Subtitle 2">
            <a:extLst>
              <a:ext uri="{FF2B5EF4-FFF2-40B4-BE49-F238E27FC236}">
                <a16:creationId xmlns:a16="http://schemas.microsoft.com/office/drawing/2014/main" id="{199626AE-39F4-721A-B0D9-E1CC0C1D87B3}"/>
              </a:ext>
            </a:extLst>
          </p:cNvPr>
          <p:cNvSpPr>
            <a:spLocks noGrp="1"/>
          </p:cNvSpPr>
          <p:nvPr>
            <p:ph type="subTitle" idx="1"/>
          </p:nvPr>
        </p:nvSpPr>
        <p:spPr/>
        <p:txBody>
          <a:bodyPr/>
          <a:lstStyle/>
          <a:p>
            <a:r>
              <a:rPr lang="en-GB" dirty="0">
                <a:solidFill>
                  <a:schemeClr val="bg1"/>
                </a:solidFill>
              </a:rPr>
              <a:t>.</a:t>
            </a:r>
            <a:endParaRPr lang="en-IN" dirty="0">
              <a:solidFill>
                <a:schemeClr val="bg1"/>
              </a:solidFill>
            </a:endParaRPr>
          </a:p>
        </p:txBody>
      </p:sp>
    </p:spTree>
    <p:extLst>
      <p:ext uri="{BB962C8B-B14F-4D97-AF65-F5344CB8AC3E}">
        <p14:creationId xmlns:p14="http://schemas.microsoft.com/office/powerpoint/2010/main" val="2104169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2504E-90E9-BAA8-6D28-E5F9338176B4}"/>
              </a:ext>
            </a:extLst>
          </p:cNvPr>
          <p:cNvSpPr>
            <a:spLocks noGrp="1"/>
          </p:cNvSpPr>
          <p:nvPr>
            <p:ph type="title"/>
          </p:nvPr>
        </p:nvSpPr>
        <p:spPr/>
        <p:txBody>
          <a:bodyPr/>
          <a:lstStyle/>
          <a:p>
            <a:r>
              <a:rPr lang="en-GB" dirty="0"/>
              <a:t>WHAT IS REAL TIME APPLICATIONS?</a:t>
            </a:r>
            <a:endParaRPr lang="en-IN" dirty="0"/>
          </a:p>
        </p:txBody>
      </p:sp>
      <p:sp>
        <p:nvSpPr>
          <p:cNvPr id="3" name="Content Placeholder 2">
            <a:extLst>
              <a:ext uri="{FF2B5EF4-FFF2-40B4-BE49-F238E27FC236}">
                <a16:creationId xmlns:a16="http://schemas.microsoft.com/office/drawing/2014/main" id="{4E8B7D09-EC5D-3CFB-D8DC-0BBCE7646070}"/>
              </a:ext>
            </a:extLst>
          </p:cNvPr>
          <p:cNvSpPr>
            <a:spLocks noGrp="1"/>
          </p:cNvSpPr>
          <p:nvPr>
            <p:ph idx="1"/>
          </p:nvPr>
        </p:nvSpPr>
        <p:spPr/>
        <p:txBody>
          <a:bodyPr/>
          <a:lstStyle/>
          <a:p>
            <a:r>
              <a:rPr lang="en-GB" dirty="0"/>
              <a:t>The real time  systems are the system which the correctness of the computation is not only depends upon the logical correctness but depends upon the time which the result is produce.</a:t>
            </a:r>
          </a:p>
          <a:p>
            <a:r>
              <a:rPr lang="en-GB" dirty="0"/>
              <a:t>If the time constraints are not met means the system said to be not a real time operating system.</a:t>
            </a:r>
          </a:p>
          <a:p>
            <a:r>
              <a:rPr lang="en-IN" dirty="0"/>
              <a:t>Examples of real time system applications</a:t>
            </a:r>
          </a:p>
          <a:p>
            <a:pPr lvl="1"/>
            <a:r>
              <a:rPr lang="en-IN" dirty="0"/>
              <a:t>Airbag deployment</a:t>
            </a:r>
          </a:p>
          <a:p>
            <a:pPr lvl="1"/>
            <a:r>
              <a:rPr lang="en-IN" dirty="0"/>
              <a:t>Missile guidance and control system</a:t>
            </a:r>
          </a:p>
          <a:p>
            <a:pPr lvl="1"/>
            <a:r>
              <a:rPr lang="en-IN" dirty="0"/>
              <a:t>Anti brake system</a:t>
            </a:r>
          </a:p>
        </p:txBody>
      </p:sp>
    </p:spTree>
    <p:extLst>
      <p:ext uri="{BB962C8B-B14F-4D97-AF65-F5344CB8AC3E}">
        <p14:creationId xmlns:p14="http://schemas.microsoft.com/office/powerpoint/2010/main" val="701463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272D5-96FA-411F-A993-AFAF6F089F07}"/>
              </a:ext>
            </a:extLst>
          </p:cNvPr>
          <p:cNvSpPr>
            <a:spLocks noGrp="1"/>
          </p:cNvSpPr>
          <p:nvPr>
            <p:ph type="title"/>
          </p:nvPr>
        </p:nvSpPr>
        <p:spPr/>
        <p:txBody>
          <a:bodyPr/>
          <a:lstStyle/>
          <a:p>
            <a:r>
              <a:rPr lang="en-GB" dirty="0"/>
              <a:t>WHAT IS REAL TIME OPERATING SYSTEM</a:t>
            </a:r>
            <a:endParaRPr lang="en-IN" dirty="0"/>
          </a:p>
        </p:txBody>
      </p:sp>
      <p:sp>
        <p:nvSpPr>
          <p:cNvPr id="3" name="Content Placeholder 2">
            <a:extLst>
              <a:ext uri="{FF2B5EF4-FFF2-40B4-BE49-F238E27FC236}">
                <a16:creationId xmlns:a16="http://schemas.microsoft.com/office/drawing/2014/main" id="{E526A035-2186-31D3-1B67-ECB63D4E41AF}"/>
              </a:ext>
            </a:extLst>
          </p:cNvPr>
          <p:cNvSpPr>
            <a:spLocks noGrp="1"/>
          </p:cNvSpPr>
          <p:nvPr>
            <p:ph idx="1"/>
          </p:nvPr>
        </p:nvSpPr>
        <p:spPr/>
        <p:txBody>
          <a:bodyPr/>
          <a:lstStyle/>
          <a:p>
            <a:r>
              <a:rPr lang="en-GB" dirty="0"/>
              <a:t>It's an operating system, which is specially designed for time constraints application and a high degree of reliability. </a:t>
            </a:r>
          </a:p>
          <a:p>
            <a:pPr marL="0" indent="0">
              <a:buNone/>
            </a:pPr>
            <a:endParaRPr lang="en-GB" dirty="0"/>
          </a:p>
          <a:p>
            <a:r>
              <a:rPr lang="en-GB" dirty="0"/>
              <a:t>Example of Real Time Operating System</a:t>
            </a:r>
          </a:p>
          <a:p>
            <a:pPr lvl="1"/>
            <a:r>
              <a:rPr lang="en-GB" dirty="0"/>
              <a:t>FreeRTOS</a:t>
            </a:r>
          </a:p>
          <a:p>
            <a:pPr lvl="1"/>
            <a:r>
              <a:rPr lang="en-GB" dirty="0"/>
              <a:t>VxWorks</a:t>
            </a:r>
          </a:p>
          <a:p>
            <a:pPr lvl="1"/>
            <a:r>
              <a:rPr lang="en-GB" dirty="0"/>
              <a:t>ONX</a:t>
            </a:r>
          </a:p>
          <a:p>
            <a:pPr lvl="1"/>
            <a:r>
              <a:rPr lang="en-GB" dirty="0"/>
              <a:t>INTEGITY</a:t>
            </a:r>
          </a:p>
        </p:txBody>
      </p:sp>
    </p:spTree>
    <p:extLst>
      <p:ext uri="{BB962C8B-B14F-4D97-AF65-F5344CB8AC3E}">
        <p14:creationId xmlns:p14="http://schemas.microsoft.com/office/powerpoint/2010/main" val="24071385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A6482-5678-16AA-3815-E7226EC791F1}"/>
              </a:ext>
            </a:extLst>
          </p:cNvPr>
          <p:cNvSpPr>
            <a:spLocks noGrp="1"/>
          </p:cNvSpPr>
          <p:nvPr>
            <p:ph type="title"/>
          </p:nvPr>
        </p:nvSpPr>
        <p:spPr/>
        <p:txBody>
          <a:bodyPr/>
          <a:lstStyle/>
          <a:p>
            <a:r>
              <a:rPr lang="en-GB" dirty="0"/>
              <a:t>WHAT IS SCHEDULER?</a:t>
            </a:r>
            <a:endParaRPr lang="en-IN" dirty="0"/>
          </a:p>
        </p:txBody>
      </p:sp>
      <p:sp>
        <p:nvSpPr>
          <p:cNvPr id="3" name="Content Placeholder 2">
            <a:extLst>
              <a:ext uri="{FF2B5EF4-FFF2-40B4-BE49-F238E27FC236}">
                <a16:creationId xmlns:a16="http://schemas.microsoft.com/office/drawing/2014/main" id="{41D1D540-1BB3-84FC-F957-6F00F58A4804}"/>
              </a:ext>
            </a:extLst>
          </p:cNvPr>
          <p:cNvSpPr>
            <a:spLocks noGrp="1"/>
          </p:cNvSpPr>
          <p:nvPr>
            <p:ph idx="1"/>
          </p:nvPr>
        </p:nvSpPr>
        <p:spPr>
          <a:xfrm>
            <a:off x="838200" y="1560443"/>
            <a:ext cx="10515600" cy="4616520"/>
          </a:xfrm>
        </p:spPr>
        <p:txBody>
          <a:bodyPr/>
          <a:lstStyle/>
          <a:p>
            <a:r>
              <a:rPr lang="en-GB" dirty="0"/>
              <a:t>Scheduler is the key part of an operating system it decides which  task are going to get the CPU time next.</a:t>
            </a:r>
          </a:p>
          <a:p>
            <a:r>
              <a:rPr lang="en-GB" dirty="0"/>
              <a:t>There are many type of CPU scheduling  policy's are available.</a:t>
            </a:r>
          </a:p>
          <a:p>
            <a:pPr lvl="1"/>
            <a:r>
              <a:rPr lang="en-GB" dirty="0"/>
              <a:t>Pre-emptive scheduling</a:t>
            </a:r>
          </a:p>
          <a:p>
            <a:pPr lvl="1"/>
            <a:r>
              <a:rPr lang="en-GB" dirty="0"/>
              <a:t>Co-operative scheduling.</a:t>
            </a:r>
          </a:p>
          <a:p>
            <a:r>
              <a:rPr lang="en-GB" dirty="0"/>
              <a:t>To start the </a:t>
            </a:r>
            <a:r>
              <a:rPr lang="en-GB" dirty="0" err="1"/>
              <a:t>cpu</a:t>
            </a:r>
            <a:r>
              <a:rPr lang="en-GB" dirty="0"/>
              <a:t> scheduler we need to call the function called</a:t>
            </a:r>
          </a:p>
          <a:p>
            <a:pPr marL="0" indent="0">
              <a:buNone/>
            </a:pPr>
            <a:r>
              <a:rPr lang="en-GB" dirty="0"/>
              <a:t>	</a:t>
            </a:r>
            <a:r>
              <a:rPr lang="en-GB" dirty="0" err="1"/>
              <a:t>vTaskStartScheduler</a:t>
            </a:r>
            <a:r>
              <a:rPr lang="en-GB" dirty="0"/>
              <a:t>()</a:t>
            </a:r>
          </a:p>
          <a:p>
            <a:r>
              <a:rPr lang="en-GB" dirty="0"/>
              <a:t>Scheduler is the combination of architecture specific code and </a:t>
            </a:r>
          </a:p>
          <a:p>
            <a:pPr marL="0" indent="0">
              <a:buNone/>
            </a:pPr>
            <a:r>
              <a:rPr lang="en-GB" dirty="0"/>
              <a:t>FreeRTOS Generic Code.</a:t>
            </a:r>
          </a:p>
          <a:p>
            <a:endParaRPr lang="en-GB" dirty="0"/>
          </a:p>
          <a:p>
            <a:pPr marL="0" indent="0">
              <a:buNone/>
            </a:pPr>
            <a:endParaRPr lang="en-IN" dirty="0"/>
          </a:p>
        </p:txBody>
      </p:sp>
    </p:spTree>
    <p:extLst>
      <p:ext uri="{BB962C8B-B14F-4D97-AF65-F5344CB8AC3E}">
        <p14:creationId xmlns:p14="http://schemas.microsoft.com/office/powerpoint/2010/main" val="935514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EC8D6-7D8B-1D38-E3F6-D09BB26D0643}"/>
              </a:ext>
            </a:extLst>
          </p:cNvPr>
          <p:cNvSpPr>
            <a:spLocks noGrp="1"/>
          </p:cNvSpPr>
          <p:nvPr>
            <p:ph type="title"/>
          </p:nvPr>
        </p:nvSpPr>
        <p:spPr>
          <a:xfrm>
            <a:off x="838200" y="76890"/>
            <a:ext cx="10515600" cy="315912"/>
          </a:xfrm>
        </p:spPr>
        <p:txBody>
          <a:bodyPr>
            <a:normAutofit fontScale="90000"/>
          </a:bodyPr>
          <a:lstStyle/>
          <a:p>
            <a:r>
              <a:rPr lang="en-GB" dirty="0">
                <a:solidFill>
                  <a:schemeClr val="bg1"/>
                </a:solidFill>
              </a:rPr>
              <a:t>.</a:t>
            </a:r>
            <a:endParaRPr lang="en-IN" dirty="0">
              <a:solidFill>
                <a:schemeClr val="bg1"/>
              </a:solidFill>
            </a:endParaRPr>
          </a:p>
        </p:txBody>
      </p:sp>
      <p:sp>
        <p:nvSpPr>
          <p:cNvPr id="3" name="Content Placeholder 2">
            <a:extLst>
              <a:ext uri="{FF2B5EF4-FFF2-40B4-BE49-F238E27FC236}">
                <a16:creationId xmlns:a16="http://schemas.microsoft.com/office/drawing/2014/main" id="{E21EE8F7-4744-F408-89D1-5B80346FC5A6}"/>
              </a:ext>
            </a:extLst>
          </p:cNvPr>
          <p:cNvSpPr>
            <a:spLocks noGrp="1"/>
          </p:cNvSpPr>
          <p:nvPr>
            <p:ph idx="1"/>
          </p:nvPr>
        </p:nvSpPr>
        <p:spPr>
          <a:xfrm>
            <a:off x="838200" y="506897"/>
            <a:ext cx="10515600" cy="4765606"/>
          </a:xfrm>
        </p:spPr>
        <p:txBody>
          <a:bodyPr/>
          <a:lstStyle/>
          <a:p>
            <a:pPr marL="0" indent="0">
              <a:buNone/>
            </a:pPr>
            <a:r>
              <a:rPr lang="en-GB" dirty="0"/>
              <a:t>There are three major function which helps the scheduler runs</a:t>
            </a:r>
          </a:p>
          <a:p>
            <a:pPr marL="0" indent="0">
              <a:buNone/>
            </a:pPr>
            <a:r>
              <a:rPr lang="en-GB" dirty="0"/>
              <a:t>	vportSVChandler()</a:t>
            </a:r>
          </a:p>
          <a:p>
            <a:pPr marL="0" indent="0">
              <a:buNone/>
            </a:pPr>
            <a:r>
              <a:rPr lang="en-GB" dirty="0"/>
              <a:t>	xportPendSVhandler()</a:t>
            </a:r>
          </a:p>
          <a:p>
            <a:pPr marL="0" indent="0">
              <a:buNone/>
            </a:pPr>
            <a:r>
              <a:rPr lang="en-GB" dirty="0"/>
              <a:t>	xportSysTickHandler()</a:t>
            </a:r>
          </a:p>
          <a:p>
            <a:pPr marL="0" indent="0">
              <a:buNone/>
            </a:pPr>
            <a:endParaRPr lang="en-GB" dirty="0"/>
          </a:p>
          <a:p>
            <a:pPr marL="0" indent="0">
              <a:buNone/>
            </a:pPr>
            <a:endParaRPr lang="en-GB" dirty="0"/>
          </a:p>
          <a:p>
            <a:pPr marL="0" indent="0">
              <a:buNone/>
            </a:pPr>
            <a:endParaRPr lang="en-GB" dirty="0"/>
          </a:p>
          <a:p>
            <a:pPr marL="0" indent="0">
              <a:buNone/>
            </a:pPr>
            <a:endParaRPr lang="en-IN" dirty="0"/>
          </a:p>
        </p:txBody>
      </p:sp>
    </p:spTree>
    <p:extLst>
      <p:ext uri="{BB962C8B-B14F-4D97-AF65-F5344CB8AC3E}">
        <p14:creationId xmlns:p14="http://schemas.microsoft.com/office/powerpoint/2010/main" val="3824430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BED21-8532-3328-BDA1-1C41C2120743}"/>
              </a:ext>
            </a:extLst>
          </p:cNvPr>
          <p:cNvSpPr>
            <a:spLocks noGrp="1"/>
          </p:cNvSpPr>
          <p:nvPr>
            <p:ph type="title"/>
          </p:nvPr>
        </p:nvSpPr>
        <p:spPr/>
        <p:txBody>
          <a:bodyPr/>
          <a:lstStyle/>
          <a:p>
            <a:r>
              <a:rPr lang="en-GB" dirty="0"/>
              <a:t>WHAT IS TASK?</a:t>
            </a:r>
            <a:endParaRPr lang="en-IN" dirty="0"/>
          </a:p>
        </p:txBody>
      </p:sp>
      <p:sp>
        <p:nvSpPr>
          <p:cNvPr id="3" name="Content Placeholder 2">
            <a:extLst>
              <a:ext uri="{FF2B5EF4-FFF2-40B4-BE49-F238E27FC236}">
                <a16:creationId xmlns:a16="http://schemas.microsoft.com/office/drawing/2014/main" id="{657DB00E-FC40-917D-AEA7-66EF8D7A7062}"/>
              </a:ext>
            </a:extLst>
          </p:cNvPr>
          <p:cNvSpPr>
            <a:spLocks noGrp="1"/>
          </p:cNvSpPr>
          <p:nvPr>
            <p:ph idx="1"/>
          </p:nvPr>
        </p:nvSpPr>
        <p:spPr/>
        <p:txBody>
          <a:bodyPr>
            <a:normAutofit/>
          </a:bodyPr>
          <a:lstStyle/>
          <a:p>
            <a:pPr marL="0" indent="0">
              <a:buNone/>
            </a:pPr>
            <a:r>
              <a:rPr lang="en-GB" dirty="0"/>
              <a:t>Task is the piece of code which is schedulable.</a:t>
            </a:r>
          </a:p>
          <a:p>
            <a:pPr marL="0" indent="0">
              <a:buNone/>
            </a:pPr>
            <a:r>
              <a:rPr lang="en-IN" dirty="0"/>
              <a:t>In FreeRTOS to make an toggle led we need to create following things:</a:t>
            </a:r>
          </a:p>
          <a:p>
            <a:pPr lvl="1"/>
            <a:r>
              <a:rPr lang="en-IN" dirty="0"/>
              <a:t>Task creation</a:t>
            </a:r>
          </a:p>
          <a:p>
            <a:pPr lvl="1"/>
            <a:r>
              <a:rPr lang="en-IN" dirty="0"/>
              <a:t>Task implementation</a:t>
            </a:r>
          </a:p>
          <a:p>
            <a:pPr marL="0" indent="0">
              <a:buNone/>
            </a:pPr>
            <a:r>
              <a:rPr lang="en-IN" dirty="0"/>
              <a:t>Task creation is  create the memory for the toggle led.</a:t>
            </a:r>
          </a:p>
          <a:p>
            <a:pPr marL="0" indent="0">
              <a:buNone/>
            </a:pPr>
            <a:r>
              <a:rPr lang="en-IN" dirty="0"/>
              <a:t>Task implementation is place that how we toggle the led.</a:t>
            </a:r>
          </a:p>
          <a:p>
            <a:pPr marL="0" indent="0">
              <a:buNone/>
            </a:pPr>
            <a:r>
              <a:rPr lang="en-IN" dirty="0"/>
              <a:t>In FreeRTOS these two functionality is done by API.</a:t>
            </a:r>
          </a:p>
          <a:p>
            <a:pPr marL="0" indent="0">
              <a:buNone/>
            </a:pPr>
            <a:r>
              <a:rPr lang="en-IN" dirty="0"/>
              <a:t> </a:t>
            </a:r>
          </a:p>
          <a:p>
            <a:pPr marL="457200" lvl="1" indent="0">
              <a:buNone/>
            </a:pPr>
            <a:endParaRPr lang="en-IN" dirty="0"/>
          </a:p>
        </p:txBody>
      </p:sp>
    </p:spTree>
    <p:extLst>
      <p:ext uri="{BB962C8B-B14F-4D97-AF65-F5344CB8AC3E}">
        <p14:creationId xmlns:p14="http://schemas.microsoft.com/office/powerpoint/2010/main" val="3739228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588BE-7024-A197-2368-33EAC538BDF5}"/>
              </a:ext>
            </a:extLst>
          </p:cNvPr>
          <p:cNvSpPr>
            <a:spLocks noGrp="1"/>
          </p:cNvSpPr>
          <p:nvPr>
            <p:ph type="title"/>
          </p:nvPr>
        </p:nvSpPr>
        <p:spPr>
          <a:xfrm>
            <a:off x="838200" y="365125"/>
            <a:ext cx="10515600" cy="1135683"/>
          </a:xfrm>
        </p:spPr>
        <p:txBody>
          <a:bodyPr/>
          <a:lstStyle/>
          <a:p>
            <a:r>
              <a:rPr lang="en-GB" dirty="0"/>
              <a:t>TASK CREATE AND IMPLEMENTING API’S</a:t>
            </a:r>
            <a:endParaRPr lang="en-IN" dirty="0"/>
          </a:p>
        </p:txBody>
      </p:sp>
      <p:sp>
        <p:nvSpPr>
          <p:cNvPr id="3" name="Content Placeholder 2">
            <a:extLst>
              <a:ext uri="{FF2B5EF4-FFF2-40B4-BE49-F238E27FC236}">
                <a16:creationId xmlns:a16="http://schemas.microsoft.com/office/drawing/2014/main" id="{11AE2436-CC5A-7075-E60A-0AEEB3553E96}"/>
              </a:ext>
            </a:extLst>
          </p:cNvPr>
          <p:cNvSpPr>
            <a:spLocks noGrp="1"/>
          </p:cNvSpPr>
          <p:nvPr>
            <p:ph idx="1"/>
          </p:nvPr>
        </p:nvSpPr>
        <p:spPr>
          <a:xfrm>
            <a:off x="838200" y="1500808"/>
            <a:ext cx="10515600" cy="5287617"/>
          </a:xfrm>
        </p:spPr>
        <p:txBody>
          <a:bodyPr>
            <a:normAutofit fontScale="40000" lnSpcReduction="20000"/>
          </a:bodyPr>
          <a:lstStyle/>
          <a:p>
            <a:r>
              <a:rPr lang="en-GB" sz="4000" dirty="0"/>
              <a:t>To creating a task FreeRTOS provides an api called</a:t>
            </a:r>
          </a:p>
          <a:p>
            <a:pPr marL="0" indent="0">
              <a:buNone/>
            </a:pPr>
            <a:r>
              <a:rPr lang="en-GB" sz="4000" dirty="0"/>
              <a:t>	</a:t>
            </a:r>
            <a:r>
              <a:rPr lang="en-GB" sz="4000" dirty="0">
                <a:solidFill>
                  <a:schemeClr val="tx2">
                    <a:lumMod val="75000"/>
                    <a:lumOff val="25000"/>
                  </a:schemeClr>
                </a:solidFill>
              </a:rPr>
              <a:t>BaseType_t xTaskCreate( TaskFunction_t pvTaskCode,</a:t>
            </a:r>
          </a:p>
          <a:p>
            <a:pPr marL="0" indent="0">
              <a:buNone/>
            </a:pPr>
            <a:r>
              <a:rPr lang="en-GB" sz="4000" dirty="0">
                <a:solidFill>
                  <a:schemeClr val="tx2">
                    <a:lumMod val="75000"/>
                    <a:lumOff val="25000"/>
                  </a:schemeClr>
                </a:solidFill>
              </a:rPr>
              <a:t>			              const char * const pcname,</a:t>
            </a:r>
          </a:p>
          <a:p>
            <a:pPr marL="0" indent="0">
              <a:buNone/>
            </a:pPr>
            <a:r>
              <a:rPr lang="en-GB" sz="4000" dirty="0">
                <a:solidFill>
                  <a:schemeClr val="tx2">
                    <a:lumMod val="75000"/>
                    <a:lumOff val="25000"/>
                  </a:schemeClr>
                </a:solidFill>
              </a:rPr>
              <a:t>			              unsigned short usStackDepth,</a:t>
            </a:r>
          </a:p>
          <a:p>
            <a:pPr marL="0" indent="0">
              <a:buNone/>
            </a:pPr>
            <a:r>
              <a:rPr lang="en-GB" sz="4000" dirty="0">
                <a:solidFill>
                  <a:schemeClr val="tx2">
                    <a:lumMod val="75000"/>
                    <a:lumOff val="25000"/>
                  </a:schemeClr>
                </a:solidFill>
              </a:rPr>
              <a:t>			              void *</a:t>
            </a:r>
            <a:r>
              <a:rPr lang="en-GB" sz="4000" dirty="0" err="1">
                <a:solidFill>
                  <a:schemeClr val="tx2">
                    <a:lumMod val="75000"/>
                    <a:lumOff val="25000"/>
                  </a:schemeClr>
                </a:solidFill>
              </a:rPr>
              <a:t>pvParameter</a:t>
            </a:r>
            <a:r>
              <a:rPr lang="en-GB" sz="4000" dirty="0">
                <a:solidFill>
                  <a:schemeClr val="tx2">
                    <a:lumMod val="75000"/>
                    <a:lumOff val="25000"/>
                  </a:schemeClr>
                </a:solidFill>
              </a:rPr>
              <a:t>,</a:t>
            </a:r>
          </a:p>
          <a:p>
            <a:pPr marL="0" indent="0">
              <a:buNone/>
            </a:pPr>
            <a:r>
              <a:rPr lang="en-GB" sz="4000" dirty="0">
                <a:solidFill>
                  <a:schemeClr val="tx2">
                    <a:lumMod val="75000"/>
                    <a:lumOff val="25000"/>
                  </a:schemeClr>
                </a:solidFill>
              </a:rPr>
              <a:t>			              </a:t>
            </a:r>
            <a:r>
              <a:rPr lang="en-GB" sz="4000" dirty="0" err="1">
                <a:solidFill>
                  <a:schemeClr val="tx2">
                    <a:lumMod val="75000"/>
                    <a:lumOff val="25000"/>
                  </a:schemeClr>
                </a:solidFill>
              </a:rPr>
              <a:t>UBaseType_t</a:t>
            </a:r>
            <a:r>
              <a:rPr lang="en-GB" sz="4000" dirty="0">
                <a:solidFill>
                  <a:schemeClr val="tx2">
                    <a:lumMod val="75000"/>
                    <a:lumOff val="25000"/>
                  </a:schemeClr>
                </a:solidFill>
              </a:rPr>
              <a:t> </a:t>
            </a:r>
            <a:r>
              <a:rPr lang="en-GB" sz="4000" dirty="0" err="1">
                <a:solidFill>
                  <a:schemeClr val="tx2">
                    <a:lumMod val="75000"/>
                    <a:lumOff val="25000"/>
                  </a:schemeClr>
                </a:solidFill>
              </a:rPr>
              <a:t>uxPriority</a:t>
            </a:r>
            <a:r>
              <a:rPr lang="en-GB" sz="4000" dirty="0">
                <a:solidFill>
                  <a:schemeClr val="tx2">
                    <a:lumMod val="75000"/>
                    <a:lumOff val="25000"/>
                  </a:schemeClr>
                </a:solidFill>
              </a:rPr>
              <a:t>,</a:t>
            </a:r>
          </a:p>
          <a:p>
            <a:pPr marL="0" indent="0">
              <a:buNone/>
            </a:pPr>
            <a:r>
              <a:rPr lang="en-GB" sz="4000" dirty="0">
                <a:solidFill>
                  <a:schemeClr val="tx2">
                    <a:lumMod val="75000"/>
                    <a:lumOff val="25000"/>
                  </a:schemeClr>
                </a:solidFill>
              </a:rPr>
              <a:t>			              TaskHandle_t *</a:t>
            </a:r>
            <a:r>
              <a:rPr lang="en-GB" sz="4000" dirty="0" err="1">
                <a:solidFill>
                  <a:schemeClr val="tx2">
                    <a:lumMod val="75000"/>
                    <a:lumOff val="25000"/>
                  </a:schemeClr>
                </a:solidFill>
              </a:rPr>
              <a:t>pxCreateTask</a:t>
            </a:r>
            <a:endParaRPr lang="en-GB" sz="4000" dirty="0">
              <a:solidFill>
                <a:schemeClr val="tx2">
                  <a:lumMod val="75000"/>
                  <a:lumOff val="25000"/>
                </a:schemeClr>
              </a:solidFill>
            </a:endParaRPr>
          </a:p>
          <a:p>
            <a:pPr marL="0" indent="0">
              <a:buNone/>
            </a:pPr>
            <a:r>
              <a:rPr lang="en-GB" sz="4000" dirty="0">
                <a:solidFill>
                  <a:schemeClr val="tx2">
                    <a:lumMod val="75000"/>
                    <a:lumOff val="25000"/>
                  </a:schemeClr>
                </a:solidFill>
              </a:rPr>
              <a:t>	);</a:t>
            </a:r>
          </a:p>
          <a:p>
            <a:r>
              <a:rPr lang="en-GB" sz="4000" dirty="0"/>
              <a:t>To implement a task FreeRTOS provides an api called</a:t>
            </a:r>
          </a:p>
          <a:p>
            <a:pPr marL="0" indent="0">
              <a:buNone/>
            </a:pPr>
            <a:r>
              <a:rPr lang="en-GB" sz="4000" dirty="0"/>
              <a:t>	</a:t>
            </a:r>
            <a:r>
              <a:rPr lang="en-GB" sz="4000" dirty="0">
                <a:solidFill>
                  <a:schemeClr val="tx2">
                    <a:lumMod val="75000"/>
                    <a:lumOff val="25000"/>
                  </a:schemeClr>
                </a:solidFill>
              </a:rPr>
              <a:t>void vaTaskFunction(void * parameter)</a:t>
            </a:r>
          </a:p>
          <a:p>
            <a:pPr marL="0" indent="0">
              <a:buNone/>
            </a:pPr>
            <a:r>
              <a:rPr lang="en-GB" sz="4000" dirty="0">
                <a:solidFill>
                  <a:schemeClr val="tx2">
                    <a:lumMod val="75000"/>
                    <a:lumOff val="25000"/>
                  </a:schemeClr>
                </a:solidFill>
              </a:rPr>
              <a:t>	{</a:t>
            </a:r>
          </a:p>
          <a:p>
            <a:pPr marL="0" indent="0">
              <a:buNone/>
            </a:pPr>
            <a:r>
              <a:rPr lang="en-GB" sz="4000" dirty="0">
                <a:solidFill>
                  <a:schemeClr val="tx2">
                    <a:lumMod val="75000"/>
                    <a:lumOff val="25000"/>
                  </a:schemeClr>
                </a:solidFill>
              </a:rPr>
              <a:t>		for(;;)</a:t>
            </a:r>
          </a:p>
          <a:p>
            <a:pPr marL="0" indent="0">
              <a:buNone/>
            </a:pPr>
            <a:r>
              <a:rPr lang="en-GB" sz="4000" dirty="0">
                <a:solidFill>
                  <a:schemeClr val="tx2">
                    <a:lumMod val="75000"/>
                    <a:lumOff val="25000"/>
                  </a:schemeClr>
                </a:solidFill>
              </a:rPr>
              <a:t>		{</a:t>
            </a:r>
          </a:p>
          <a:p>
            <a:pPr marL="0" indent="0">
              <a:buNone/>
            </a:pPr>
            <a:r>
              <a:rPr lang="en-GB" sz="4000" dirty="0">
                <a:solidFill>
                  <a:schemeClr val="tx2">
                    <a:lumMod val="75000"/>
                    <a:lumOff val="25000"/>
                  </a:schemeClr>
                </a:solidFill>
              </a:rPr>
              <a:t>			--here the toggle led code we need to write---</a:t>
            </a:r>
          </a:p>
          <a:p>
            <a:pPr marL="0" indent="0">
              <a:buNone/>
            </a:pPr>
            <a:r>
              <a:rPr lang="en-GB" sz="4000" dirty="0">
                <a:solidFill>
                  <a:schemeClr val="tx2">
                    <a:lumMod val="75000"/>
                    <a:lumOff val="25000"/>
                  </a:schemeClr>
                </a:solidFill>
              </a:rPr>
              <a:t>		}</a:t>
            </a:r>
          </a:p>
          <a:p>
            <a:pPr marL="0" indent="0">
              <a:buNone/>
            </a:pPr>
            <a:r>
              <a:rPr lang="en-GB" sz="4000" dirty="0">
                <a:solidFill>
                  <a:schemeClr val="tx2">
                    <a:lumMod val="75000"/>
                    <a:lumOff val="25000"/>
                  </a:schemeClr>
                </a:solidFill>
              </a:rPr>
              <a:t>		vTaskDelete(NULL);</a:t>
            </a:r>
          </a:p>
          <a:p>
            <a:pPr marL="0" indent="0">
              <a:buNone/>
            </a:pPr>
            <a:r>
              <a:rPr lang="en-GB" sz="4000" dirty="0">
                <a:solidFill>
                  <a:schemeClr val="tx2">
                    <a:lumMod val="75000"/>
                    <a:lumOff val="25000"/>
                  </a:schemeClr>
                </a:solidFill>
              </a:rPr>
              <a:t>	}</a:t>
            </a:r>
          </a:p>
          <a:p>
            <a:pPr marL="0" indent="0">
              <a:buNone/>
            </a:pPr>
            <a:endParaRPr lang="en-GB" dirty="0"/>
          </a:p>
        </p:txBody>
      </p:sp>
    </p:spTree>
    <p:extLst>
      <p:ext uri="{BB962C8B-B14F-4D97-AF65-F5344CB8AC3E}">
        <p14:creationId xmlns:p14="http://schemas.microsoft.com/office/powerpoint/2010/main" val="3442028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AD357-2559-F05B-0B51-7DA06B20F245}"/>
              </a:ext>
            </a:extLst>
          </p:cNvPr>
          <p:cNvSpPr>
            <a:spLocks noGrp="1"/>
          </p:cNvSpPr>
          <p:nvPr>
            <p:ph type="title"/>
          </p:nvPr>
        </p:nvSpPr>
        <p:spPr/>
        <p:txBody>
          <a:bodyPr/>
          <a:lstStyle/>
          <a:p>
            <a:r>
              <a:rPr lang="en-GB" dirty="0"/>
              <a:t>This is happened when the task is created?</a:t>
            </a:r>
            <a:endParaRPr lang="en-IN" dirty="0"/>
          </a:p>
        </p:txBody>
      </p:sp>
      <p:sp>
        <p:nvSpPr>
          <p:cNvPr id="3" name="Content Placeholder 2">
            <a:extLst>
              <a:ext uri="{FF2B5EF4-FFF2-40B4-BE49-F238E27FC236}">
                <a16:creationId xmlns:a16="http://schemas.microsoft.com/office/drawing/2014/main" id="{62934EB7-DAC3-0F12-545B-4C6115EA409C}"/>
              </a:ext>
            </a:extLst>
          </p:cNvPr>
          <p:cNvSpPr>
            <a:spLocks noGrp="1"/>
          </p:cNvSpPr>
          <p:nvPr>
            <p:ph idx="1"/>
          </p:nvPr>
        </p:nvSpPr>
        <p:spPr/>
        <p:txBody>
          <a:bodyPr/>
          <a:lstStyle/>
          <a:p>
            <a:r>
              <a:rPr lang="en-GB" dirty="0"/>
              <a:t>At first it will allocate memory in a RAM ,for saving our all  tasks which we called heap memory ,it is done by macro called</a:t>
            </a:r>
          </a:p>
          <a:p>
            <a:pPr marL="457200" lvl="1" indent="0">
              <a:buNone/>
            </a:pPr>
            <a:r>
              <a:rPr lang="en-GB" dirty="0">
                <a:solidFill>
                  <a:schemeClr val="tx2">
                    <a:lumMod val="75000"/>
                    <a:lumOff val="25000"/>
                  </a:schemeClr>
                </a:solidFill>
              </a:rPr>
              <a:t>#define configHEAP_TOTAL_SIZE</a:t>
            </a:r>
          </a:p>
          <a:p>
            <a:r>
              <a:rPr lang="en-GB" dirty="0"/>
              <a:t>And then it will allocate memory for each task the allocation of memory for the task is determined by this arugment of the </a:t>
            </a:r>
            <a:r>
              <a:rPr lang="en-GB" dirty="0">
                <a:solidFill>
                  <a:schemeClr val="tx2">
                    <a:lumMod val="75000"/>
                    <a:lumOff val="25000"/>
                  </a:schemeClr>
                </a:solidFill>
              </a:rPr>
              <a:t>xTaskcreate(unsigned short usStackDepth)</a:t>
            </a:r>
            <a:r>
              <a:rPr lang="en-GB" dirty="0"/>
              <a:t>.</a:t>
            </a:r>
          </a:p>
          <a:p>
            <a:endParaRPr lang="en-GB" dirty="0"/>
          </a:p>
          <a:p>
            <a:endParaRPr lang="en-GB" dirty="0"/>
          </a:p>
          <a:p>
            <a:endParaRPr lang="en-GB" dirty="0"/>
          </a:p>
          <a:p>
            <a:endParaRPr lang="en-IN" dirty="0"/>
          </a:p>
          <a:p>
            <a:endParaRPr lang="en-GB" dirty="0"/>
          </a:p>
        </p:txBody>
      </p:sp>
    </p:spTree>
    <p:extLst>
      <p:ext uri="{BB962C8B-B14F-4D97-AF65-F5344CB8AC3E}">
        <p14:creationId xmlns:p14="http://schemas.microsoft.com/office/powerpoint/2010/main" val="3462026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E8FC6-81B6-729F-B51A-C054E308B4CC}"/>
              </a:ext>
            </a:extLst>
          </p:cNvPr>
          <p:cNvSpPr>
            <a:spLocks noGrp="1"/>
          </p:cNvSpPr>
          <p:nvPr>
            <p:ph type="title"/>
          </p:nvPr>
        </p:nvSpPr>
        <p:spPr/>
        <p:txBody>
          <a:bodyPr/>
          <a:lstStyle/>
          <a:p>
            <a:r>
              <a:rPr lang="en-GB" dirty="0"/>
              <a:t>WHAT IS IDLE TASK</a:t>
            </a:r>
            <a:endParaRPr lang="en-IN" dirty="0"/>
          </a:p>
        </p:txBody>
      </p:sp>
      <p:sp>
        <p:nvSpPr>
          <p:cNvPr id="3" name="Content Placeholder 2">
            <a:extLst>
              <a:ext uri="{FF2B5EF4-FFF2-40B4-BE49-F238E27FC236}">
                <a16:creationId xmlns:a16="http://schemas.microsoft.com/office/drawing/2014/main" id="{6056389D-9C13-89B2-8A36-00945272B34B}"/>
              </a:ext>
            </a:extLst>
          </p:cNvPr>
          <p:cNvSpPr>
            <a:spLocks noGrp="1"/>
          </p:cNvSpPr>
          <p:nvPr>
            <p:ph idx="1"/>
          </p:nvPr>
        </p:nvSpPr>
        <p:spPr/>
        <p:txBody>
          <a:bodyPr/>
          <a:lstStyle/>
          <a:p>
            <a:r>
              <a:rPr lang="en-GB" dirty="0"/>
              <a:t>Idle task is the task which is created by the RTOS scheduler automatically because for at least one task need to run on the CPU </a:t>
            </a:r>
          </a:p>
          <a:p>
            <a:r>
              <a:rPr lang="en-GB" dirty="0"/>
              <a:t>It is assigned to be a very low priority task </a:t>
            </a:r>
          </a:p>
          <a:p>
            <a:r>
              <a:rPr lang="en-GB" dirty="0"/>
              <a:t>It also having some works like deleting  the memory allocated on heap section.</a:t>
            </a:r>
          </a:p>
          <a:p>
            <a:r>
              <a:rPr lang="en-GB" dirty="0"/>
              <a:t>It will help use to put the CPU on sleep mode.</a:t>
            </a:r>
          </a:p>
          <a:p>
            <a:pPr marL="0" indent="0">
              <a:buNone/>
            </a:pPr>
            <a:endParaRPr lang="en-IN" dirty="0"/>
          </a:p>
        </p:txBody>
      </p:sp>
    </p:spTree>
    <p:extLst>
      <p:ext uri="{BB962C8B-B14F-4D97-AF65-F5344CB8AC3E}">
        <p14:creationId xmlns:p14="http://schemas.microsoft.com/office/powerpoint/2010/main" val="628459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189E3-986A-9DEF-99F8-3F4EB449913E}"/>
              </a:ext>
            </a:extLst>
          </p:cNvPr>
          <p:cNvSpPr>
            <a:spLocks noGrp="1"/>
          </p:cNvSpPr>
          <p:nvPr>
            <p:ph type="title"/>
          </p:nvPr>
        </p:nvSpPr>
        <p:spPr/>
        <p:txBody>
          <a:bodyPr/>
          <a:lstStyle/>
          <a:p>
            <a:r>
              <a:rPr lang="en-GB" dirty="0"/>
              <a:t>WHAT IS CONTEXT SWITCHING</a:t>
            </a:r>
            <a:endParaRPr lang="en-IN" dirty="0"/>
          </a:p>
        </p:txBody>
      </p:sp>
      <p:sp>
        <p:nvSpPr>
          <p:cNvPr id="3" name="Content Placeholder 2">
            <a:extLst>
              <a:ext uri="{FF2B5EF4-FFF2-40B4-BE49-F238E27FC236}">
                <a16:creationId xmlns:a16="http://schemas.microsoft.com/office/drawing/2014/main" id="{FC56B464-E303-7380-76C0-5C0666C8FBB9}"/>
              </a:ext>
            </a:extLst>
          </p:cNvPr>
          <p:cNvSpPr>
            <a:spLocks noGrp="1"/>
          </p:cNvSpPr>
          <p:nvPr>
            <p:ph idx="1"/>
          </p:nvPr>
        </p:nvSpPr>
        <p:spPr/>
        <p:txBody>
          <a:bodyPr/>
          <a:lstStyle/>
          <a:p>
            <a:r>
              <a:rPr lang="en-GB" dirty="0"/>
              <a:t>Context switching is the process of the switching out of one task and switching in another task to the CPU is called context switching.</a:t>
            </a:r>
          </a:p>
          <a:p>
            <a:r>
              <a:rPr lang="en-GB" dirty="0"/>
              <a:t>In RTOS the context switching is taken care by the scheduler.</a:t>
            </a:r>
          </a:p>
          <a:p>
            <a:r>
              <a:rPr lang="en-GB" dirty="0"/>
              <a:t>But the scheduler internally set the bit of pensv interrupt flag, After that the CPU will execute the pensv handler which actually done the context switching.</a:t>
            </a:r>
          </a:p>
          <a:p>
            <a:endParaRPr lang="en-GB" dirty="0"/>
          </a:p>
          <a:p>
            <a:endParaRPr lang="en-GB" dirty="0"/>
          </a:p>
          <a:p>
            <a:pPr marL="0" indent="0">
              <a:buNone/>
            </a:pPr>
            <a:endParaRPr lang="en-IN" dirty="0"/>
          </a:p>
        </p:txBody>
      </p:sp>
    </p:spTree>
    <p:extLst>
      <p:ext uri="{BB962C8B-B14F-4D97-AF65-F5344CB8AC3E}">
        <p14:creationId xmlns:p14="http://schemas.microsoft.com/office/powerpoint/2010/main" val="2459391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F3D40-72A6-E098-C9EE-AB4EC3FCFCD9}"/>
              </a:ext>
            </a:extLst>
          </p:cNvPr>
          <p:cNvSpPr>
            <a:spLocks noGrp="1"/>
          </p:cNvSpPr>
          <p:nvPr>
            <p:ph type="title"/>
          </p:nvPr>
        </p:nvSpPr>
        <p:spPr/>
        <p:txBody>
          <a:bodyPr/>
          <a:lstStyle/>
          <a:p>
            <a:r>
              <a:rPr lang="en-GB" dirty="0"/>
              <a:t>WHAT IS TASK STATE?</a:t>
            </a:r>
            <a:endParaRPr lang="en-IN" dirty="0"/>
          </a:p>
        </p:txBody>
      </p:sp>
      <p:sp>
        <p:nvSpPr>
          <p:cNvPr id="3" name="Content Placeholder 2">
            <a:extLst>
              <a:ext uri="{FF2B5EF4-FFF2-40B4-BE49-F238E27FC236}">
                <a16:creationId xmlns:a16="http://schemas.microsoft.com/office/drawing/2014/main" id="{B94184D7-9BF2-A59D-CA79-DAAB6FDF6428}"/>
              </a:ext>
            </a:extLst>
          </p:cNvPr>
          <p:cNvSpPr>
            <a:spLocks noGrp="1"/>
          </p:cNvSpPr>
          <p:nvPr>
            <p:ph idx="1"/>
          </p:nvPr>
        </p:nvSpPr>
        <p:spPr/>
        <p:txBody>
          <a:bodyPr/>
          <a:lstStyle/>
          <a:p>
            <a:r>
              <a:rPr lang="en-GB" dirty="0"/>
              <a:t>The state of the task which is determined by the action of that task</a:t>
            </a:r>
          </a:p>
          <a:p>
            <a:pPr marL="0" indent="0">
              <a:buNone/>
            </a:pPr>
            <a:r>
              <a:rPr lang="en-GB" dirty="0"/>
              <a:t>At the execution.</a:t>
            </a:r>
          </a:p>
          <a:p>
            <a:r>
              <a:rPr lang="en-GB" dirty="0"/>
              <a:t>There totally 4 action can be done by the task </a:t>
            </a:r>
          </a:p>
          <a:p>
            <a:pPr lvl="1"/>
            <a:r>
              <a:rPr lang="en-GB" dirty="0"/>
              <a:t>Suspend state</a:t>
            </a:r>
          </a:p>
          <a:p>
            <a:pPr lvl="1"/>
            <a:r>
              <a:rPr lang="en-GB" dirty="0"/>
              <a:t>Running state</a:t>
            </a:r>
          </a:p>
          <a:p>
            <a:pPr lvl="1"/>
            <a:r>
              <a:rPr lang="en-GB" dirty="0"/>
              <a:t>Blocking state</a:t>
            </a:r>
          </a:p>
          <a:p>
            <a:pPr lvl="1"/>
            <a:r>
              <a:rPr lang="en-GB" dirty="0"/>
              <a:t>Ready state</a:t>
            </a:r>
          </a:p>
          <a:p>
            <a:pPr marL="457200" lvl="1" indent="0">
              <a:buNone/>
            </a:pPr>
            <a:endParaRPr lang="en-IN" dirty="0"/>
          </a:p>
        </p:txBody>
      </p:sp>
    </p:spTree>
    <p:extLst>
      <p:ext uri="{BB962C8B-B14F-4D97-AF65-F5344CB8AC3E}">
        <p14:creationId xmlns:p14="http://schemas.microsoft.com/office/powerpoint/2010/main" val="3224182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658D9-36E3-EF5C-D53D-52B996606099}"/>
              </a:ext>
            </a:extLst>
          </p:cNvPr>
          <p:cNvSpPr>
            <a:spLocks noGrp="1"/>
          </p:cNvSpPr>
          <p:nvPr>
            <p:ph type="title"/>
          </p:nvPr>
        </p:nvSpPr>
        <p:spPr/>
        <p:txBody>
          <a:bodyPr/>
          <a:lstStyle/>
          <a:p>
            <a:r>
              <a:rPr lang="en-GB" dirty="0"/>
              <a:t>WHAT IS TASK NOTIFICATION?</a:t>
            </a:r>
            <a:endParaRPr lang="en-IN" dirty="0"/>
          </a:p>
        </p:txBody>
      </p:sp>
      <p:sp>
        <p:nvSpPr>
          <p:cNvPr id="3" name="Content Placeholder 2">
            <a:extLst>
              <a:ext uri="{FF2B5EF4-FFF2-40B4-BE49-F238E27FC236}">
                <a16:creationId xmlns:a16="http://schemas.microsoft.com/office/drawing/2014/main" id="{DBDD76DF-E065-4B67-7A16-031699FADA73}"/>
              </a:ext>
            </a:extLst>
          </p:cNvPr>
          <p:cNvSpPr>
            <a:spLocks noGrp="1"/>
          </p:cNvSpPr>
          <p:nvPr>
            <p:ph idx="1"/>
          </p:nvPr>
        </p:nvSpPr>
        <p:spPr/>
        <p:txBody>
          <a:bodyPr/>
          <a:lstStyle/>
          <a:p>
            <a:r>
              <a:rPr lang="en-GB" dirty="0"/>
              <a:t>Task notification is the method in which we can communicate with the other task which are placed in the scheduler.</a:t>
            </a:r>
          </a:p>
          <a:p>
            <a:r>
              <a:rPr lang="en-GB" dirty="0"/>
              <a:t>There are some API’s which is help us to use the task notification </a:t>
            </a:r>
          </a:p>
          <a:p>
            <a:pPr lvl="1"/>
            <a:r>
              <a:rPr lang="en-GB" dirty="0">
                <a:solidFill>
                  <a:schemeClr val="tx2">
                    <a:lumMod val="75000"/>
                    <a:lumOff val="25000"/>
                  </a:schemeClr>
                </a:solidFill>
              </a:rPr>
              <a:t>BaseType_t </a:t>
            </a:r>
            <a:r>
              <a:rPr lang="en-GB" dirty="0" err="1">
                <a:solidFill>
                  <a:schemeClr val="tx1">
                    <a:lumMod val="85000"/>
                    <a:lumOff val="15000"/>
                  </a:schemeClr>
                </a:solidFill>
              </a:rPr>
              <a:t>xTaskNotifyWait</a:t>
            </a:r>
            <a:r>
              <a:rPr lang="en-GB" dirty="0">
                <a:solidFill>
                  <a:schemeClr val="tx2">
                    <a:lumMod val="75000"/>
                    <a:lumOff val="25000"/>
                  </a:schemeClr>
                </a:solidFill>
              </a:rPr>
              <a:t>(unit32_t ulBitsToClreaOnEntry,Uint32_t ulBitsToClearOnExit,unit32_t *</a:t>
            </a:r>
            <a:r>
              <a:rPr lang="en-GB" dirty="0" err="1">
                <a:solidFill>
                  <a:schemeClr val="tx2">
                    <a:lumMod val="75000"/>
                    <a:lumOff val="25000"/>
                  </a:schemeClr>
                </a:solidFill>
              </a:rPr>
              <a:t>pulNotificationValue,TickType_t</a:t>
            </a:r>
            <a:r>
              <a:rPr lang="en-GB" dirty="0">
                <a:solidFill>
                  <a:schemeClr val="tx2">
                    <a:lumMod val="75000"/>
                    <a:lumOff val="25000"/>
                  </a:schemeClr>
                </a:solidFill>
              </a:rPr>
              <a:t> </a:t>
            </a:r>
            <a:r>
              <a:rPr lang="en-GB" dirty="0" err="1">
                <a:solidFill>
                  <a:schemeClr val="tx2">
                    <a:lumMod val="75000"/>
                    <a:lumOff val="25000"/>
                  </a:schemeClr>
                </a:solidFill>
              </a:rPr>
              <a:t>xTickToWait</a:t>
            </a:r>
            <a:r>
              <a:rPr lang="en-GB" dirty="0">
                <a:solidFill>
                  <a:schemeClr val="tx2">
                    <a:lumMod val="75000"/>
                    <a:lumOff val="25000"/>
                  </a:schemeClr>
                </a:solidFill>
              </a:rPr>
              <a:t>);</a:t>
            </a:r>
          </a:p>
          <a:p>
            <a:pPr marL="457200" lvl="1" indent="0">
              <a:buNone/>
            </a:pPr>
            <a:endParaRPr lang="en-GB" dirty="0">
              <a:solidFill>
                <a:schemeClr val="tx2">
                  <a:lumMod val="75000"/>
                  <a:lumOff val="25000"/>
                </a:schemeClr>
              </a:solidFill>
            </a:endParaRPr>
          </a:p>
          <a:p>
            <a:pPr lvl="1"/>
            <a:r>
              <a:rPr lang="en-IN" dirty="0" err="1">
                <a:solidFill>
                  <a:schemeClr val="tx2">
                    <a:lumMod val="75000"/>
                    <a:lumOff val="25000"/>
                  </a:schemeClr>
                </a:solidFill>
              </a:rPr>
              <a:t>BaseType_t</a:t>
            </a:r>
            <a:r>
              <a:rPr lang="en-IN" dirty="0">
                <a:solidFill>
                  <a:schemeClr val="tx2">
                    <a:lumMod val="75000"/>
                    <a:lumOff val="25000"/>
                  </a:schemeClr>
                </a:solidFill>
              </a:rPr>
              <a:t> </a:t>
            </a:r>
            <a:r>
              <a:rPr lang="en-IN" dirty="0" err="1">
                <a:solidFill>
                  <a:schemeClr val="tx1">
                    <a:lumMod val="85000"/>
                    <a:lumOff val="15000"/>
                  </a:schemeClr>
                </a:solidFill>
              </a:rPr>
              <a:t>xTaskNotify</a:t>
            </a:r>
            <a:r>
              <a:rPr lang="en-IN" dirty="0">
                <a:solidFill>
                  <a:schemeClr val="tx2">
                    <a:lumMod val="75000"/>
                    <a:lumOff val="25000"/>
                  </a:schemeClr>
                </a:solidFill>
              </a:rPr>
              <a:t>(</a:t>
            </a:r>
            <a:r>
              <a:rPr lang="en-IN" dirty="0" err="1">
                <a:solidFill>
                  <a:schemeClr val="tx2">
                    <a:lumMod val="75000"/>
                    <a:lumOff val="25000"/>
                  </a:schemeClr>
                </a:solidFill>
              </a:rPr>
              <a:t>TaskHandle_t</a:t>
            </a:r>
            <a:r>
              <a:rPr lang="en-IN" dirty="0">
                <a:solidFill>
                  <a:schemeClr val="tx2">
                    <a:lumMod val="75000"/>
                    <a:lumOff val="25000"/>
                  </a:schemeClr>
                </a:solidFill>
              </a:rPr>
              <a:t> xTaskToNotify,unit32_t </a:t>
            </a:r>
            <a:r>
              <a:rPr lang="en-IN" dirty="0" err="1">
                <a:solidFill>
                  <a:schemeClr val="tx2">
                    <a:lumMod val="75000"/>
                    <a:lumOff val="25000"/>
                  </a:schemeClr>
                </a:solidFill>
              </a:rPr>
              <a:t>ulValue,eNotifyAction</a:t>
            </a:r>
            <a:r>
              <a:rPr lang="en-IN" dirty="0">
                <a:solidFill>
                  <a:schemeClr val="tx2">
                    <a:lumMod val="75000"/>
                    <a:lumOff val="25000"/>
                  </a:schemeClr>
                </a:solidFill>
              </a:rPr>
              <a:t> </a:t>
            </a:r>
            <a:r>
              <a:rPr lang="en-IN" dirty="0" err="1">
                <a:solidFill>
                  <a:schemeClr val="tx2">
                    <a:lumMod val="75000"/>
                    <a:lumOff val="25000"/>
                  </a:schemeClr>
                </a:solidFill>
              </a:rPr>
              <a:t>eAction</a:t>
            </a:r>
            <a:r>
              <a:rPr lang="en-IN" dirty="0">
                <a:solidFill>
                  <a:schemeClr val="tx2">
                    <a:lumMod val="75000"/>
                    <a:lumOff val="25000"/>
                  </a:schemeClr>
                </a:solidFill>
              </a:rPr>
              <a:t>);</a:t>
            </a:r>
          </a:p>
          <a:p>
            <a:pPr marL="457200" lvl="1" indent="0">
              <a:buNone/>
            </a:pPr>
            <a:endParaRPr lang="en-IN" dirty="0"/>
          </a:p>
        </p:txBody>
      </p:sp>
    </p:spTree>
    <p:extLst>
      <p:ext uri="{BB962C8B-B14F-4D97-AF65-F5344CB8AC3E}">
        <p14:creationId xmlns:p14="http://schemas.microsoft.com/office/powerpoint/2010/main" val="1647821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03697-7EA8-175C-DC89-C5621B0D99EF}"/>
              </a:ext>
            </a:extLst>
          </p:cNvPr>
          <p:cNvSpPr>
            <a:spLocks noGrp="1"/>
          </p:cNvSpPr>
          <p:nvPr>
            <p:ph type="title"/>
          </p:nvPr>
        </p:nvSpPr>
        <p:spPr/>
        <p:txBody>
          <a:bodyPr/>
          <a:lstStyle/>
          <a:p>
            <a:r>
              <a:rPr lang="en-GB" dirty="0"/>
              <a:t>HOW WE CAN DELETE THE TASK</a:t>
            </a:r>
            <a:endParaRPr lang="en-IN" dirty="0"/>
          </a:p>
        </p:txBody>
      </p:sp>
      <p:sp>
        <p:nvSpPr>
          <p:cNvPr id="3" name="Content Placeholder 2">
            <a:extLst>
              <a:ext uri="{FF2B5EF4-FFF2-40B4-BE49-F238E27FC236}">
                <a16:creationId xmlns:a16="http://schemas.microsoft.com/office/drawing/2014/main" id="{BEACB46D-9B59-9799-3942-61353F1E2D93}"/>
              </a:ext>
            </a:extLst>
          </p:cNvPr>
          <p:cNvSpPr>
            <a:spLocks noGrp="1"/>
          </p:cNvSpPr>
          <p:nvPr>
            <p:ph idx="1"/>
          </p:nvPr>
        </p:nvSpPr>
        <p:spPr/>
        <p:txBody>
          <a:bodyPr/>
          <a:lstStyle/>
          <a:p>
            <a:pPr marL="0" indent="0">
              <a:buNone/>
            </a:pPr>
            <a:r>
              <a:rPr lang="en-GB" dirty="0">
                <a:solidFill>
                  <a:schemeClr val="accent2">
                    <a:lumMod val="60000"/>
                    <a:lumOff val="40000"/>
                  </a:schemeClr>
                </a:solidFill>
              </a:rPr>
              <a:t>Void  </a:t>
            </a:r>
            <a:r>
              <a:rPr lang="en-GB" dirty="0"/>
              <a:t>xTaskDelete</a:t>
            </a:r>
            <a:r>
              <a:rPr lang="en-GB" dirty="0">
                <a:solidFill>
                  <a:schemeClr val="accent2">
                    <a:lumMod val="60000"/>
                    <a:lumOff val="40000"/>
                  </a:schemeClr>
                </a:solidFill>
              </a:rPr>
              <a:t>(TaskHandle pxTaskToDelete)</a:t>
            </a:r>
            <a:r>
              <a:rPr lang="en-IN" dirty="0">
                <a:solidFill>
                  <a:schemeClr val="accent2">
                    <a:lumMod val="60000"/>
                    <a:lumOff val="40000"/>
                  </a:schemeClr>
                </a:solidFill>
              </a:rPr>
              <a:t> </a:t>
            </a:r>
            <a:r>
              <a:rPr lang="en-IN" dirty="0"/>
              <a:t>by using this </a:t>
            </a:r>
            <a:r>
              <a:rPr lang="en-IN" dirty="0" err="1"/>
              <a:t>api</a:t>
            </a:r>
            <a:r>
              <a:rPr lang="en-IN" dirty="0"/>
              <a:t> we able to delete task from the scheduler.</a:t>
            </a:r>
          </a:p>
          <a:p>
            <a:pPr marL="0" indent="0">
              <a:buNone/>
            </a:pPr>
            <a:r>
              <a:rPr lang="en-GB" dirty="0"/>
              <a:t>Note:</a:t>
            </a:r>
          </a:p>
          <a:p>
            <a:pPr marL="0" indent="0">
              <a:buNone/>
            </a:pPr>
            <a:r>
              <a:rPr lang="en-GB" dirty="0"/>
              <a:t>	xtaskDelete actually make the mark of the task to be delete, the deletion part taken by the idle task.</a:t>
            </a:r>
          </a:p>
          <a:p>
            <a:pPr marL="0" indent="0">
              <a:buNone/>
            </a:pPr>
            <a:endParaRPr lang="en-GB" dirty="0"/>
          </a:p>
          <a:p>
            <a:pPr marL="0" indent="0">
              <a:buNone/>
            </a:pPr>
            <a:endParaRPr lang="en-GB" dirty="0"/>
          </a:p>
        </p:txBody>
      </p:sp>
    </p:spTree>
    <p:extLst>
      <p:ext uri="{BB962C8B-B14F-4D97-AF65-F5344CB8AC3E}">
        <p14:creationId xmlns:p14="http://schemas.microsoft.com/office/powerpoint/2010/main" val="1525461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789C2-3925-0201-4E66-4CAFEDDC04C8}"/>
              </a:ext>
            </a:extLst>
          </p:cNvPr>
          <p:cNvSpPr>
            <a:spLocks noGrp="1"/>
          </p:cNvSpPr>
          <p:nvPr>
            <p:ph type="title"/>
          </p:nvPr>
        </p:nvSpPr>
        <p:spPr/>
        <p:txBody>
          <a:bodyPr/>
          <a:lstStyle/>
          <a:p>
            <a:r>
              <a:rPr lang="en-GB" dirty="0"/>
              <a:t>D/B TASK PRIORITY AND HARDWARE PRIORITY</a:t>
            </a:r>
            <a:endParaRPr lang="en-IN" dirty="0"/>
          </a:p>
        </p:txBody>
      </p:sp>
      <p:sp>
        <p:nvSpPr>
          <p:cNvPr id="3" name="Content Placeholder 2">
            <a:extLst>
              <a:ext uri="{FF2B5EF4-FFF2-40B4-BE49-F238E27FC236}">
                <a16:creationId xmlns:a16="http://schemas.microsoft.com/office/drawing/2014/main" id="{50F98199-DF2D-E14F-EC1A-0722281A79DD}"/>
              </a:ext>
            </a:extLst>
          </p:cNvPr>
          <p:cNvSpPr>
            <a:spLocks noGrp="1"/>
          </p:cNvSpPr>
          <p:nvPr>
            <p:ph idx="1"/>
          </p:nvPr>
        </p:nvSpPr>
        <p:spPr/>
        <p:txBody>
          <a:bodyPr>
            <a:normAutofit fontScale="92500"/>
          </a:bodyPr>
          <a:lstStyle/>
          <a:p>
            <a:r>
              <a:rPr lang="en-GB" dirty="0"/>
              <a:t>Task priority is assigned to the ISR of FreeRTOS and Hardware priority is assigned to the ISR of the hardware.</a:t>
            </a:r>
          </a:p>
          <a:p>
            <a:r>
              <a:rPr lang="en-GB" dirty="0"/>
              <a:t>If the priority assigning to the hardware interrupt means we need to assign the lowest number possible.</a:t>
            </a:r>
          </a:p>
          <a:p>
            <a:r>
              <a:rPr lang="en-GB" dirty="0"/>
              <a:t>If the priority assigning to the task interrupt means we need to assign the highest number possible.</a:t>
            </a:r>
          </a:p>
          <a:p>
            <a:r>
              <a:rPr lang="en-GB" dirty="0"/>
              <a:t>For example:</a:t>
            </a:r>
          </a:p>
          <a:p>
            <a:pPr lvl="1"/>
            <a:r>
              <a:rPr lang="en-GB" dirty="0"/>
              <a:t>We need to calculate the sensor of ultrasonic for every detection of movement, this is considered to a hardware interrupt(lowest number possible).</a:t>
            </a:r>
          </a:p>
          <a:p>
            <a:pPr lvl="1"/>
            <a:r>
              <a:rPr lang="en-GB" dirty="0"/>
              <a:t>The pensv interrupt and </a:t>
            </a:r>
            <a:r>
              <a:rPr lang="en-GB" dirty="0" err="1"/>
              <a:t>systick</a:t>
            </a:r>
            <a:r>
              <a:rPr lang="en-GB" dirty="0"/>
              <a:t> interrupt are consider to be an task interrupt(highest number </a:t>
            </a:r>
            <a:r>
              <a:rPr lang="en-GB" dirty="0" err="1"/>
              <a:t>possble</a:t>
            </a:r>
            <a:r>
              <a:rPr lang="en-GB" dirty="0"/>
              <a:t>).</a:t>
            </a:r>
            <a:endParaRPr lang="en-IN" dirty="0"/>
          </a:p>
        </p:txBody>
      </p:sp>
    </p:spTree>
    <p:extLst>
      <p:ext uri="{BB962C8B-B14F-4D97-AF65-F5344CB8AC3E}">
        <p14:creationId xmlns:p14="http://schemas.microsoft.com/office/powerpoint/2010/main" val="156202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83419-F3F3-C379-F5E1-10BF513F8995}"/>
              </a:ext>
            </a:extLst>
          </p:cNvPr>
          <p:cNvSpPr>
            <a:spLocks noGrp="1"/>
          </p:cNvSpPr>
          <p:nvPr>
            <p:ph type="title"/>
          </p:nvPr>
        </p:nvSpPr>
        <p:spPr>
          <a:xfrm>
            <a:off x="838200" y="365126"/>
            <a:ext cx="10515600" cy="608910"/>
          </a:xfrm>
        </p:spPr>
        <p:txBody>
          <a:bodyPr>
            <a:normAutofit fontScale="90000"/>
          </a:bodyPr>
          <a:lstStyle/>
          <a:p>
            <a:r>
              <a:rPr lang="en-GB" dirty="0">
                <a:solidFill>
                  <a:schemeClr val="bg1"/>
                </a:solidFill>
              </a:rPr>
              <a:t>.</a:t>
            </a:r>
            <a:endParaRPr lang="en-IN" dirty="0">
              <a:solidFill>
                <a:schemeClr val="bg1"/>
              </a:solidFill>
            </a:endParaRPr>
          </a:p>
        </p:txBody>
      </p:sp>
      <p:sp>
        <p:nvSpPr>
          <p:cNvPr id="3" name="Content Placeholder 2">
            <a:extLst>
              <a:ext uri="{FF2B5EF4-FFF2-40B4-BE49-F238E27FC236}">
                <a16:creationId xmlns:a16="http://schemas.microsoft.com/office/drawing/2014/main" id="{615AFEAE-AED8-EB69-87C4-A280F9B441C1}"/>
              </a:ext>
            </a:extLst>
          </p:cNvPr>
          <p:cNvSpPr>
            <a:spLocks noGrp="1"/>
          </p:cNvSpPr>
          <p:nvPr>
            <p:ph idx="1"/>
          </p:nvPr>
        </p:nvSpPr>
        <p:spPr>
          <a:xfrm>
            <a:off x="689113" y="791956"/>
            <a:ext cx="10515600" cy="4351338"/>
          </a:xfrm>
        </p:spPr>
        <p:txBody>
          <a:bodyPr/>
          <a:lstStyle/>
          <a:p>
            <a:pPr marL="0" indent="0">
              <a:buNone/>
            </a:pPr>
            <a:r>
              <a:rPr lang="en-GB" dirty="0"/>
              <a:t>To find the highest number possible and lowest number possible for the priority means we need to look for the </a:t>
            </a:r>
          </a:p>
          <a:p>
            <a:pPr marL="0" indent="0">
              <a:buNone/>
            </a:pPr>
            <a:r>
              <a:rPr lang="en-GB" dirty="0"/>
              <a:t>ConfigKERNEK_INTERRUPT_PRIORITY</a:t>
            </a:r>
          </a:p>
          <a:p>
            <a:pPr marL="0" indent="0">
              <a:buNone/>
            </a:pPr>
            <a:r>
              <a:rPr lang="en-GB" dirty="0"/>
              <a:t>ConfigMAX_SYSCALL_INTERRUPT_PRIORITY</a:t>
            </a:r>
          </a:p>
          <a:p>
            <a:pPr marL="0" indent="0">
              <a:buNone/>
            </a:pPr>
            <a:endParaRPr lang="en-GB" dirty="0"/>
          </a:p>
          <a:p>
            <a:pPr marL="0" indent="0">
              <a:buNone/>
            </a:pPr>
            <a:endParaRPr lang="en-GB" dirty="0"/>
          </a:p>
          <a:p>
            <a:pPr marL="0" indent="0">
              <a:buNone/>
            </a:pPr>
            <a:endParaRPr lang="en-IN" dirty="0"/>
          </a:p>
        </p:txBody>
      </p:sp>
    </p:spTree>
    <p:extLst>
      <p:ext uri="{BB962C8B-B14F-4D97-AF65-F5344CB8AC3E}">
        <p14:creationId xmlns:p14="http://schemas.microsoft.com/office/powerpoint/2010/main" val="1241781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72863-56BD-9494-8BF0-A31517373B4D}"/>
              </a:ext>
            </a:extLst>
          </p:cNvPr>
          <p:cNvSpPr>
            <a:spLocks noGrp="1"/>
          </p:cNvSpPr>
          <p:nvPr>
            <p:ph type="title"/>
          </p:nvPr>
        </p:nvSpPr>
        <p:spPr/>
        <p:txBody>
          <a:bodyPr/>
          <a:lstStyle/>
          <a:p>
            <a:r>
              <a:rPr lang="en-GB" dirty="0"/>
              <a:t>WHAT IS HOOK FUNCTION</a:t>
            </a:r>
            <a:endParaRPr lang="en-IN" dirty="0"/>
          </a:p>
        </p:txBody>
      </p:sp>
      <p:sp>
        <p:nvSpPr>
          <p:cNvPr id="3" name="Content Placeholder 2">
            <a:extLst>
              <a:ext uri="{FF2B5EF4-FFF2-40B4-BE49-F238E27FC236}">
                <a16:creationId xmlns:a16="http://schemas.microsoft.com/office/drawing/2014/main" id="{8FA27182-2F41-40C8-5851-D24B4B0271BA}"/>
              </a:ext>
            </a:extLst>
          </p:cNvPr>
          <p:cNvSpPr>
            <a:spLocks noGrp="1"/>
          </p:cNvSpPr>
          <p:nvPr>
            <p:ph idx="1"/>
          </p:nvPr>
        </p:nvSpPr>
        <p:spPr/>
        <p:txBody>
          <a:bodyPr/>
          <a:lstStyle/>
          <a:p>
            <a:r>
              <a:rPr lang="en-GB" dirty="0"/>
              <a:t>Hook function are the function which will get when ever the software interrupt are occurs.</a:t>
            </a:r>
          </a:p>
          <a:p>
            <a:r>
              <a:rPr lang="en-GB" dirty="0"/>
              <a:t>To achieve this Hook function, we need to configure the config file of the FreeRTOS.</a:t>
            </a:r>
          </a:p>
          <a:p>
            <a:r>
              <a:rPr lang="en-GB" dirty="0"/>
              <a:t>Type of Hook functions</a:t>
            </a:r>
          </a:p>
          <a:p>
            <a:pPr lvl="1"/>
            <a:r>
              <a:rPr lang="en-GB" dirty="0"/>
              <a:t>Idle task hook function</a:t>
            </a:r>
          </a:p>
          <a:p>
            <a:pPr lvl="1"/>
            <a:r>
              <a:rPr lang="en-GB" dirty="0"/>
              <a:t>RTOS tick hook function</a:t>
            </a:r>
          </a:p>
          <a:p>
            <a:pPr lvl="1"/>
            <a:r>
              <a:rPr lang="en-GB" dirty="0"/>
              <a:t>Dynamic memory allocation fail hook function.</a:t>
            </a:r>
          </a:p>
          <a:p>
            <a:pPr lvl="1"/>
            <a:r>
              <a:rPr lang="en-GB" dirty="0"/>
              <a:t>Stack overflow hook function.</a:t>
            </a:r>
          </a:p>
        </p:txBody>
      </p:sp>
    </p:spTree>
    <p:extLst>
      <p:ext uri="{BB962C8B-B14F-4D97-AF65-F5344CB8AC3E}">
        <p14:creationId xmlns:p14="http://schemas.microsoft.com/office/powerpoint/2010/main" val="15170168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25C84-D368-8AEF-E008-3D7DD205297A}"/>
              </a:ext>
            </a:extLst>
          </p:cNvPr>
          <p:cNvSpPr>
            <a:spLocks noGrp="1"/>
          </p:cNvSpPr>
          <p:nvPr>
            <p:ph type="title"/>
          </p:nvPr>
        </p:nvSpPr>
        <p:spPr/>
        <p:txBody>
          <a:bodyPr/>
          <a:lstStyle/>
          <a:p>
            <a:r>
              <a:rPr lang="en-GB" dirty="0">
                <a:solidFill>
                  <a:schemeClr val="bg1"/>
                </a:solidFill>
              </a:rPr>
              <a:t>.</a:t>
            </a:r>
            <a:endParaRPr lang="en-IN" dirty="0">
              <a:solidFill>
                <a:schemeClr val="bg1"/>
              </a:solidFill>
            </a:endParaRPr>
          </a:p>
        </p:txBody>
      </p:sp>
      <p:pic>
        <p:nvPicPr>
          <p:cNvPr id="5" name="Content Placeholder 4">
            <a:extLst>
              <a:ext uri="{FF2B5EF4-FFF2-40B4-BE49-F238E27FC236}">
                <a16:creationId xmlns:a16="http://schemas.microsoft.com/office/drawing/2014/main" id="{EE8602E9-0D87-90F5-D958-FE18F37760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182757"/>
            <a:ext cx="10724321" cy="3429000"/>
          </a:xfrm>
          <a:prstGeom prst="rect">
            <a:avLst/>
          </a:prstGeom>
        </p:spPr>
      </p:pic>
    </p:spTree>
    <p:extLst>
      <p:ext uri="{BB962C8B-B14F-4D97-AF65-F5344CB8AC3E}">
        <p14:creationId xmlns:p14="http://schemas.microsoft.com/office/powerpoint/2010/main" val="3502368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4AD3C-EEF4-7618-C4F6-DEC98A9262B8}"/>
              </a:ext>
            </a:extLst>
          </p:cNvPr>
          <p:cNvSpPr>
            <a:spLocks noGrp="1"/>
          </p:cNvSpPr>
          <p:nvPr>
            <p:ph type="title"/>
          </p:nvPr>
        </p:nvSpPr>
        <p:spPr/>
        <p:txBody>
          <a:bodyPr/>
          <a:lstStyle/>
          <a:p>
            <a:r>
              <a:rPr lang="en-GB" dirty="0"/>
              <a:t>WHAT IS QUEUE</a:t>
            </a:r>
            <a:endParaRPr lang="en-IN" dirty="0"/>
          </a:p>
        </p:txBody>
      </p:sp>
      <p:sp>
        <p:nvSpPr>
          <p:cNvPr id="3" name="Content Placeholder 2">
            <a:extLst>
              <a:ext uri="{FF2B5EF4-FFF2-40B4-BE49-F238E27FC236}">
                <a16:creationId xmlns:a16="http://schemas.microsoft.com/office/drawing/2014/main" id="{8F200A35-5D55-8941-B788-E8720F969E06}"/>
              </a:ext>
            </a:extLst>
          </p:cNvPr>
          <p:cNvSpPr>
            <a:spLocks noGrp="1"/>
          </p:cNvSpPr>
          <p:nvPr>
            <p:ph idx="1"/>
          </p:nvPr>
        </p:nvSpPr>
        <p:spPr>
          <a:xfrm>
            <a:off x="838200" y="1855443"/>
            <a:ext cx="11058939" cy="4351338"/>
          </a:xfrm>
        </p:spPr>
        <p:txBody>
          <a:bodyPr/>
          <a:lstStyle/>
          <a:p>
            <a:r>
              <a:rPr lang="en-GB" dirty="0"/>
              <a:t>Queue is the thread safe FIFO buffer, which let the task communicate with each other and avoid race condition.</a:t>
            </a:r>
          </a:p>
          <a:p>
            <a:pPr marL="0" indent="0">
              <a:buNone/>
            </a:pPr>
            <a:endParaRPr lang="en-GB" dirty="0"/>
          </a:p>
          <a:p>
            <a:r>
              <a:rPr lang="en-GB" dirty="0"/>
              <a:t>The sends goes to sleep when the queue is full, the receiver goes to sleep when the queue is empty.</a:t>
            </a:r>
          </a:p>
          <a:p>
            <a:pPr marL="0" indent="0">
              <a:buNone/>
            </a:pPr>
            <a:endParaRPr lang="en-IN" dirty="0"/>
          </a:p>
          <a:p>
            <a:r>
              <a:rPr lang="en-IN" dirty="0"/>
              <a:t>So the CPU cycle is never be wasted.</a:t>
            </a:r>
            <a:endParaRPr lang="en-GB" dirty="0"/>
          </a:p>
          <a:p>
            <a:endParaRPr lang="en-IN" dirty="0"/>
          </a:p>
        </p:txBody>
      </p:sp>
    </p:spTree>
    <p:extLst>
      <p:ext uri="{BB962C8B-B14F-4D97-AF65-F5344CB8AC3E}">
        <p14:creationId xmlns:p14="http://schemas.microsoft.com/office/powerpoint/2010/main" val="38255126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34085-CB5C-2E59-69CC-5D39BE200F12}"/>
              </a:ext>
            </a:extLst>
          </p:cNvPr>
          <p:cNvSpPr>
            <a:spLocks noGrp="1"/>
          </p:cNvSpPr>
          <p:nvPr>
            <p:ph type="title"/>
          </p:nvPr>
        </p:nvSpPr>
        <p:spPr/>
        <p:txBody>
          <a:bodyPr/>
          <a:lstStyle/>
          <a:p>
            <a:r>
              <a:rPr lang="en-GB" dirty="0"/>
              <a:t>HOW TO CREATE THE QUEUE AND SENDING DATA TO QUEUE</a:t>
            </a:r>
            <a:endParaRPr lang="en-IN" dirty="0"/>
          </a:p>
        </p:txBody>
      </p:sp>
      <p:sp>
        <p:nvSpPr>
          <p:cNvPr id="3" name="Content Placeholder 2">
            <a:extLst>
              <a:ext uri="{FF2B5EF4-FFF2-40B4-BE49-F238E27FC236}">
                <a16:creationId xmlns:a16="http://schemas.microsoft.com/office/drawing/2014/main" id="{721C8DF0-4970-45BF-C0B4-7A9BA63224E1}"/>
              </a:ext>
            </a:extLst>
          </p:cNvPr>
          <p:cNvSpPr>
            <a:spLocks noGrp="1"/>
          </p:cNvSpPr>
          <p:nvPr>
            <p:ph idx="1"/>
          </p:nvPr>
        </p:nvSpPr>
        <p:spPr>
          <a:xfrm>
            <a:off x="838200" y="1825625"/>
            <a:ext cx="11353800" cy="4351338"/>
          </a:xfrm>
        </p:spPr>
        <p:txBody>
          <a:bodyPr/>
          <a:lstStyle/>
          <a:p>
            <a:pPr marL="0" indent="0">
              <a:buNone/>
            </a:pPr>
            <a:endParaRPr lang="en-GB" dirty="0">
              <a:solidFill>
                <a:srgbClr val="C00000"/>
              </a:solidFill>
            </a:endParaRPr>
          </a:p>
          <a:p>
            <a:pPr marL="0" indent="0">
              <a:buNone/>
            </a:pPr>
            <a:r>
              <a:rPr lang="en-GB" dirty="0">
                <a:solidFill>
                  <a:srgbClr val="C00000"/>
                </a:solidFill>
              </a:rPr>
              <a:t>xQueueHandle </a:t>
            </a:r>
            <a:r>
              <a:rPr lang="en-GB" dirty="0"/>
              <a:t>xQueueCreate</a:t>
            </a:r>
            <a:r>
              <a:rPr lang="en-GB" dirty="0">
                <a:solidFill>
                  <a:srgbClr val="C00000"/>
                </a:solidFill>
              </a:rPr>
              <a:t> (unsigned portBASE_TYPE </a:t>
            </a:r>
            <a:r>
              <a:rPr lang="en-GB" dirty="0"/>
              <a:t>uxQueuelength</a:t>
            </a:r>
            <a:r>
              <a:rPr lang="en-GB" dirty="0">
                <a:solidFill>
                  <a:srgbClr val="C00000"/>
                </a:solidFill>
              </a:rPr>
              <a:t>,</a:t>
            </a:r>
          </a:p>
          <a:p>
            <a:pPr marL="0" indent="0">
              <a:buNone/>
            </a:pPr>
            <a:r>
              <a:rPr lang="en-GB" dirty="0">
                <a:solidFill>
                  <a:srgbClr val="C00000"/>
                </a:solidFill>
              </a:rPr>
              <a:t>					   unsigned portBASE_TYPE</a:t>
            </a:r>
            <a:r>
              <a:rPr lang="en-GB" dirty="0"/>
              <a:t> uxItemSize</a:t>
            </a:r>
            <a:r>
              <a:rPr lang="en-GB" dirty="0">
                <a:solidFill>
                  <a:srgbClr val="C00000"/>
                </a:solidFill>
              </a:rPr>
              <a:t>);</a:t>
            </a:r>
          </a:p>
          <a:p>
            <a:pPr marL="0" indent="0">
              <a:buNone/>
            </a:pPr>
            <a:endParaRPr lang="en-GB" dirty="0">
              <a:solidFill>
                <a:srgbClr val="C00000"/>
              </a:solidFill>
            </a:endParaRPr>
          </a:p>
          <a:p>
            <a:pPr marL="0" indent="0">
              <a:buNone/>
            </a:pPr>
            <a:r>
              <a:rPr lang="en-IN" dirty="0">
                <a:solidFill>
                  <a:srgbClr val="C00000"/>
                </a:solidFill>
              </a:rPr>
              <a:t>portBASE_TYPE </a:t>
            </a:r>
            <a:r>
              <a:rPr lang="en-IN" dirty="0"/>
              <a:t>xQueueSendToFront</a:t>
            </a:r>
            <a:r>
              <a:rPr lang="en-IN" dirty="0">
                <a:solidFill>
                  <a:srgbClr val="C00000"/>
                </a:solidFill>
              </a:rPr>
              <a:t>(xQueueHandle </a:t>
            </a:r>
            <a:r>
              <a:rPr lang="en-IN" dirty="0"/>
              <a:t>xQueue</a:t>
            </a:r>
            <a:r>
              <a:rPr lang="en-IN" dirty="0">
                <a:solidFill>
                  <a:srgbClr val="C00000"/>
                </a:solidFill>
              </a:rPr>
              <a:t>,</a:t>
            </a:r>
          </a:p>
          <a:p>
            <a:pPr marL="0" indent="0">
              <a:buNone/>
            </a:pPr>
            <a:r>
              <a:rPr lang="en-IN" dirty="0">
                <a:solidFill>
                  <a:srgbClr val="C00000"/>
                </a:solidFill>
              </a:rPr>
              <a:t>						   const void* </a:t>
            </a:r>
            <a:r>
              <a:rPr lang="en-IN" dirty="0"/>
              <a:t>pvItemToQueue</a:t>
            </a:r>
            <a:r>
              <a:rPr lang="en-IN" dirty="0">
                <a:solidFill>
                  <a:srgbClr val="C00000"/>
                </a:solidFill>
              </a:rPr>
              <a:t>,</a:t>
            </a:r>
          </a:p>
          <a:p>
            <a:pPr marL="0" indent="0">
              <a:buNone/>
            </a:pPr>
            <a:r>
              <a:rPr lang="en-IN" dirty="0">
                <a:solidFill>
                  <a:srgbClr val="C00000"/>
                </a:solidFill>
              </a:rPr>
              <a:t>						    portTickType </a:t>
            </a:r>
            <a:r>
              <a:rPr lang="en-IN" dirty="0"/>
              <a:t>xTicksToWait</a:t>
            </a:r>
            <a:r>
              <a:rPr lang="en-IN" dirty="0">
                <a:solidFill>
                  <a:srgbClr val="C00000"/>
                </a:solidFill>
              </a:rPr>
              <a:t>);</a:t>
            </a:r>
          </a:p>
        </p:txBody>
      </p:sp>
    </p:spTree>
    <p:extLst>
      <p:ext uri="{BB962C8B-B14F-4D97-AF65-F5344CB8AC3E}">
        <p14:creationId xmlns:p14="http://schemas.microsoft.com/office/powerpoint/2010/main" val="39087019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0A64F-15CA-D0A2-08F9-B609EA03B1BC}"/>
              </a:ext>
            </a:extLst>
          </p:cNvPr>
          <p:cNvSpPr>
            <a:spLocks noGrp="1"/>
          </p:cNvSpPr>
          <p:nvPr>
            <p:ph type="title"/>
          </p:nvPr>
        </p:nvSpPr>
        <p:spPr/>
        <p:txBody>
          <a:bodyPr/>
          <a:lstStyle/>
          <a:p>
            <a:r>
              <a:rPr lang="en-GB" dirty="0"/>
              <a:t>HOW TO RECEIVE FROM QUEUE</a:t>
            </a:r>
            <a:endParaRPr lang="en-IN" dirty="0"/>
          </a:p>
        </p:txBody>
      </p:sp>
      <p:sp>
        <p:nvSpPr>
          <p:cNvPr id="3" name="Content Placeholder 2">
            <a:extLst>
              <a:ext uri="{FF2B5EF4-FFF2-40B4-BE49-F238E27FC236}">
                <a16:creationId xmlns:a16="http://schemas.microsoft.com/office/drawing/2014/main" id="{17BC4772-5AF3-8D32-BD50-2F79AD7D0283}"/>
              </a:ext>
            </a:extLst>
          </p:cNvPr>
          <p:cNvSpPr>
            <a:spLocks noGrp="1"/>
          </p:cNvSpPr>
          <p:nvPr>
            <p:ph idx="1"/>
          </p:nvPr>
        </p:nvSpPr>
        <p:spPr/>
        <p:txBody>
          <a:bodyPr/>
          <a:lstStyle/>
          <a:p>
            <a:pPr marL="0" indent="0">
              <a:buNone/>
            </a:pPr>
            <a:endParaRPr lang="en-GB" dirty="0">
              <a:solidFill>
                <a:srgbClr val="C00000"/>
              </a:solidFill>
            </a:endParaRPr>
          </a:p>
          <a:p>
            <a:pPr marL="0" indent="0">
              <a:buNone/>
            </a:pPr>
            <a:r>
              <a:rPr lang="en-GB" dirty="0">
                <a:solidFill>
                  <a:srgbClr val="C00000"/>
                </a:solidFill>
              </a:rPr>
              <a:t>portBASE_TYPE </a:t>
            </a:r>
            <a:r>
              <a:rPr lang="en-GB" dirty="0"/>
              <a:t>xQueueReceive (</a:t>
            </a:r>
            <a:r>
              <a:rPr lang="en-GB" dirty="0">
                <a:solidFill>
                  <a:srgbClr val="C00000"/>
                </a:solidFill>
              </a:rPr>
              <a:t>xQueueHandle</a:t>
            </a:r>
            <a:r>
              <a:rPr lang="en-GB" dirty="0"/>
              <a:t> xQueue,</a:t>
            </a:r>
          </a:p>
          <a:p>
            <a:pPr marL="0" indent="0">
              <a:buNone/>
            </a:pPr>
            <a:r>
              <a:rPr lang="en-GB" dirty="0"/>
              <a:t>					      </a:t>
            </a:r>
            <a:r>
              <a:rPr lang="en-GB" dirty="0">
                <a:solidFill>
                  <a:srgbClr val="C00000"/>
                </a:solidFill>
              </a:rPr>
              <a:t>void</a:t>
            </a:r>
            <a:r>
              <a:rPr lang="en-GB" dirty="0"/>
              <a:t> *pvbuffer,</a:t>
            </a:r>
          </a:p>
          <a:p>
            <a:pPr marL="0" indent="0">
              <a:buNone/>
            </a:pPr>
            <a:r>
              <a:rPr lang="en-GB" dirty="0"/>
              <a:t>					       </a:t>
            </a:r>
            <a:r>
              <a:rPr lang="en-GB" dirty="0">
                <a:solidFill>
                  <a:srgbClr val="C00000"/>
                </a:solidFill>
              </a:rPr>
              <a:t>portTICKTYPE</a:t>
            </a:r>
            <a:r>
              <a:rPr lang="en-GB" dirty="0"/>
              <a:t> xTicktowait);</a:t>
            </a:r>
          </a:p>
          <a:p>
            <a:pPr marL="0" indent="0">
              <a:buNone/>
            </a:pPr>
            <a:r>
              <a:rPr lang="en-GB" dirty="0">
                <a:solidFill>
                  <a:srgbClr val="C00000"/>
                </a:solidFill>
              </a:rPr>
              <a:t>portBASE_TYPE </a:t>
            </a:r>
            <a:r>
              <a:rPr lang="en-GB" dirty="0"/>
              <a:t>xQueuePeek (</a:t>
            </a:r>
            <a:r>
              <a:rPr lang="en-GB" dirty="0">
                <a:solidFill>
                  <a:srgbClr val="C00000"/>
                </a:solidFill>
              </a:rPr>
              <a:t>xQueueHandle</a:t>
            </a:r>
            <a:r>
              <a:rPr lang="en-GB" dirty="0"/>
              <a:t> xQueue,</a:t>
            </a:r>
          </a:p>
          <a:p>
            <a:pPr marL="0" indent="0">
              <a:buNone/>
            </a:pPr>
            <a:r>
              <a:rPr lang="en-GB" dirty="0"/>
              <a:t>					      </a:t>
            </a:r>
            <a:r>
              <a:rPr lang="en-GB" dirty="0">
                <a:solidFill>
                  <a:srgbClr val="C00000"/>
                </a:solidFill>
              </a:rPr>
              <a:t>void</a:t>
            </a:r>
            <a:r>
              <a:rPr lang="en-GB" dirty="0"/>
              <a:t> *pvbuffer,</a:t>
            </a:r>
          </a:p>
          <a:p>
            <a:pPr marL="0" indent="0">
              <a:buNone/>
            </a:pPr>
            <a:r>
              <a:rPr lang="en-GB" dirty="0"/>
              <a:t>					       </a:t>
            </a:r>
            <a:r>
              <a:rPr lang="en-GB" dirty="0">
                <a:solidFill>
                  <a:srgbClr val="C00000"/>
                </a:solidFill>
              </a:rPr>
              <a:t>portTICKTYPE</a:t>
            </a:r>
            <a:r>
              <a:rPr lang="en-GB" dirty="0"/>
              <a:t> xTicktowait);</a:t>
            </a:r>
            <a:endParaRPr lang="en-IN" dirty="0"/>
          </a:p>
          <a:p>
            <a:pPr marL="0" indent="0">
              <a:buNone/>
            </a:pPr>
            <a:endParaRPr lang="en-IN" dirty="0"/>
          </a:p>
        </p:txBody>
      </p:sp>
    </p:spTree>
    <p:extLst>
      <p:ext uri="{BB962C8B-B14F-4D97-AF65-F5344CB8AC3E}">
        <p14:creationId xmlns:p14="http://schemas.microsoft.com/office/powerpoint/2010/main" val="3120430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BE4AB-11C1-4E23-0DB9-DB857B4DA9A0}"/>
              </a:ext>
            </a:extLst>
          </p:cNvPr>
          <p:cNvSpPr>
            <a:spLocks noGrp="1"/>
          </p:cNvSpPr>
          <p:nvPr>
            <p:ph type="title"/>
          </p:nvPr>
        </p:nvSpPr>
        <p:spPr/>
        <p:txBody>
          <a:bodyPr/>
          <a:lstStyle/>
          <a:p>
            <a:r>
              <a:rPr lang="en-GB" dirty="0"/>
              <a:t>SEMAPHORE</a:t>
            </a:r>
            <a:endParaRPr lang="en-IN" dirty="0"/>
          </a:p>
        </p:txBody>
      </p:sp>
      <p:sp>
        <p:nvSpPr>
          <p:cNvPr id="3" name="Content Placeholder 2">
            <a:extLst>
              <a:ext uri="{FF2B5EF4-FFF2-40B4-BE49-F238E27FC236}">
                <a16:creationId xmlns:a16="http://schemas.microsoft.com/office/drawing/2014/main" id="{A7789F19-4267-B17E-B926-DE279C602863}"/>
              </a:ext>
            </a:extLst>
          </p:cNvPr>
          <p:cNvSpPr>
            <a:spLocks noGrp="1"/>
          </p:cNvSpPr>
          <p:nvPr>
            <p:ph idx="1"/>
          </p:nvPr>
        </p:nvSpPr>
        <p:spPr/>
        <p:txBody>
          <a:bodyPr/>
          <a:lstStyle/>
          <a:p>
            <a:r>
              <a:rPr lang="en-GB" dirty="0"/>
              <a:t>Semaphore is a signalling mechanism which is used to pass the signal from one task to another task without any data.</a:t>
            </a:r>
          </a:p>
          <a:p>
            <a:r>
              <a:rPr lang="en-GB" dirty="0"/>
              <a:t>Semaphore help us to avoid the race condition in the multitasking environments.</a:t>
            </a:r>
          </a:p>
          <a:p>
            <a:r>
              <a:rPr lang="en-GB" dirty="0"/>
              <a:t>Type of semaphore</a:t>
            </a:r>
          </a:p>
          <a:p>
            <a:pPr lvl="1"/>
            <a:r>
              <a:rPr lang="en-GB" dirty="0"/>
              <a:t>Binary semaphore</a:t>
            </a:r>
          </a:p>
          <a:p>
            <a:pPr lvl="1"/>
            <a:r>
              <a:rPr lang="en-GB" dirty="0"/>
              <a:t>Counting semaphore</a:t>
            </a:r>
          </a:p>
        </p:txBody>
      </p:sp>
    </p:spTree>
    <p:extLst>
      <p:ext uri="{BB962C8B-B14F-4D97-AF65-F5344CB8AC3E}">
        <p14:creationId xmlns:p14="http://schemas.microsoft.com/office/powerpoint/2010/main" val="41084992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F3DCD-62BC-ED18-F6BE-56D73A61BA21}"/>
              </a:ext>
            </a:extLst>
          </p:cNvPr>
          <p:cNvSpPr>
            <a:spLocks noGrp="1"/>
          </p:cNvSpPr>
          <p:nvPr>
            <p:ph type="title"/>
          </p:nvPr>
        </p:nvSpPr>
        <p:spPr/>
        <p:txBody>
          <a:bodyPr/>
          <a:lstStyle/>
          <a:p>
            <a:r>
              <a:rPr lang="en-GB" dirty="0"/>
              <a:t>SEMAPHORE RELATED API’S</a:t>
            </a:r>
            <a:endParaRPr lang="en-IN" dirty="0"/>
          </a:p>
        </p:txBody>
      </p:sp>
      <p:sp>
        <p:nvSpPr>
          <p:cNvPr id="3" name="Content Placeholder 2">
            <a:extLst>
              <a:ext uri="{FF2B5EF4-FFF2-40B4-BE49-F238E27FC236}">
                <a16:creationId xmlns:a16="http://schemas.microsoft.com/office/drawing/2014/main" id="{65A5B7BC-4C1D-35F9-F565-9A9FFDA595AC}"/>
              </a:ext>
            </a:extLst>
          </p:cNvPr>
          <p:cNvSpPr>
            <a:spLocks noGrp="1"/>
          </p:cNvSpPr>
          <p:nvPr>
            <p:ph idx="1"/>
          </p:nvPr>
        </p:nvSpPr>
        <p:spPr/>
        <p:txBody>
          <a:bodyPr/>
          <a:lstStyle/>
          <a:p>
            <a:pPr marL="0" indent="0">
              <a:buNone/>
            </a:pPr>
            <a:endParaRPr lang="en-GB" dirty="0"/>
          </a:p>
          <a:p>
            <a:pPr marL="0" indent="0">
              <a:buNone/>
            </a:pPr>
            <a:r>
              <a:rPr lang="en-GB" dirty="0"/>
              <a:t>	x</a:t>
            </a:r>
            <a:r>
              <a:rPr lang="en-IN" dirty="0" err="1"/>
              <a:t>SemaphoreCreateBinary</a:t>
            </a:r>
            <a:r>
              <a:rPr lang="en-IN" dirty="0"/>
              <a:t>()</a:t>
            </a:r>
          </a:p>
          <a:p>
            <a:pPr marL="0" indent="0">
              <a:buNone/>
            </a:pPr>
            <a:r>
              <a:rPr lang="en-IN" dirty="0"/>
              <a:t>	</a:t>
            </a:r>
            <a:r>
              <a:rPr lang="en-IN" dirty="0" err="1"/>
              <a:t>xSemaphoreCreateCounting</a:t>
            </a:r>
            <a:r>
              <a:rPr lang="en-IN" dirty="0"/>
              <a:t>()</a:t>
            </a:r>
          </a:p>
          <a:p>
            <a:pPr marL="0" indent="0">
              <a:buNone/>
            </a:pPr>
            <a:r>
              <a:rPr lang="en-IN" dirty="0"/>
              <a:t>	xSemaphoreGive()</a:t>
            </a:r>
          </a:p>
          <a:p>
            <a:pPr marL="0" indent="0">
              <a:buNone/>
            </a:pPr>
            <a:r>
              <a:rPr lang="en-IN" dirty="0"/>
              <a:t>	</a:t>
            </a:r>
            <a:r>
              <a:rPr lang="en-IN" dirty="0" err="1"/>
              <a:t>xSemaphoreGiveFromISR</a:t>
            </a:r>
            <a:r>
              <a:rPr lang="en-IN" dirty="0"/>
              <a:t>()</a:t>
            </a:r>
          </a:p>
          <a:p>
            <a:pPr marL="0" indent="0">
              <a:buNone/>
            </a:pPr>
            <a:r>
              <a:rPr lang="en-IN" dirty="0"/>
              <a:t>	xSemaphoreTake()</a:t>
            </a:r>
          </a:p>
          <a:p>
            <a:pPr marL="0" indent="0">
              <a:buNone/>
            </a:pPr>
            <a:endParaRPr lang="en-GB" dirty="0"/>
          </a:p>
        </p:txBody>
      </p:sp>
    </p:spTree>
    <p:extLst>
      <p:ext uri="{BB962C8B-B14F-4D97-AF65-F5344CB8AC3E}">
        <p14:creationId xmlns:p14="http://schemas.microsoft.com/office/powerpoint/2010/main" val="24136624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7D8ED-12C5-6FC4-7FF3-2AF343314297}"/>
              </a:ext>
            </a:extLst>
          </p:cNvPr>
          <p:cNvSpPr>
            <a:spLocks noGrp="1"/>
          </p:cNvSpPr>
          <p:nvPr>
            <p:ph type="title"/>
          </p:nvPr>
        </p:nvSpPr>
        <p:spPr/>
        <p:txBody>
          <a:bodyPr/>
          <a:lstStyle/>
          <a:p>
            <a:r>
              <a:rPr lang="en-GB" dirty="0"/>
              <a:t>WHAT IS MUTUAL EXCLUSION</a:t>
            </a:r>
            <a:endParaRPr lang="en-IN" dirty="0"/>
          </a:p>
        </p:txBody>
      </p:sp>
      <p:sp>
        <p:nvSpPr>
          <p:cNvPr id="3" name="Content Placeholder 2">
            <a:extLst>
              <a:ext uri="{FF2B5EF4-FFF2-40B4-BE49-F238E27FC236}">
                <a16:creationId xmlns:a16="http://schemas.microsoft.com/office/drawing/2014/main" id="{506B4843-37B6-059C-C73E-DBCD57545C12}"/>
              </a:ext>
            </a:extLst>
          </p:cNvPr>
          <p:cNvSpPr>
            <a:spLocks noGrp="1"/>
          </p:cNvSpPr>
          <p:nvPr>
            <p:ph idx="1"/>
          </p:nvPr>
        </p:nvSpPr>
        <p:spPr>
          <a:xfrm>
            <a:off x="838200" y="2262947"/>
            <a:ext cx="10515600" cy="4351338"/>
          </a:xfrm>
        </p:spPr>
        <p:txBody>
          <a:bodyPr/>
          <a:lstStyle/>
          <a:p>
            <a:pPr marL="0" indent="0">
              <a:buNone/>
            </a:pPr>
            <a:r>
              <a:rPr lang="en-GB" dirty="0"/>
              <a:t>Mutex is a kernel synchronization primitive implementing ownership semantics and priority inheritance protocol to prevent priority inversion while ensuring mutual exclusion on shared resources in </a:t>
            </a:r>
            <a:r>
              <a:rPr lang="en-GB"/>
              <a:t>a pre-emptive </a:t>
            </a:r>
            <a:r>
              <a:rPr lang="en-GB" dirty="0"/>
              <a:t>multitasking environment.</a:t>
            </a:r>
            <a:endParaRPr lang="en-IN" dirty="0"/>
          </a:p>
        </p:txBody>
      </p:sp>
    </p:spTree>
    <p:extLst>
      <p:ext uri="{BB962C8B-B14F-4D97-AF65-F5344CB8AC3E}">
        <p14:creationId xmlns:p14="http://schemas.microsoft.com/office/powerpoint/2010/main" val="35266348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DD7E5-3AB6-3534-056B-3F5DA50932D1}"/>
              </a:ext>
            </a:extLst>
          </p:cNvPr>
          <p:cNvSpPr>
            <a:spLocks noGrp="1"/>
          </p:cNvSpPr>
          <p:nvPr>
            <p:ph type="title"/>
          </p:nvPr>
        </p:nvSpPr>
        <p:spPr/>
        <p:txBody>
          <a:bodyPr/>
          <a:lstStyle/>
          <a:p>
            <a:r>
              <a:rPr lang="en-GB" dirty="0"/>
              <a:t>MUTEX REALATED API’S </a:t>
            </a:r>
            <a:endParaRPr lang="en-IN" dirty="0"/>
          </a:p>
        </p:txBody>
      </p:sp>
      <p:sp>
        <p:nvSpPr>
          <p:cNvPr id="3" name="Content Placeholder 2">
            <a:extLst>
              <a:ext uri="{FF2B5EF4-FFF2-40B4-BE49-F238E27FC236}">
                <a16:creationId xmlns:a16="http://schemas.microsoft.com/office/drawing/2014/main" id="{AB15B92E-36E2-DA42-FA93-3BAA2D5D8C7E}"/>
              </a:ext>
            </a:extLst>
          </p:cNvPr>
          <p:cNvSpPr>
            <a:spLocks noGrp="1"/>
          </p:cNvSpPr>
          <p:nvPr>
            <p:ph idx="1"/>
          </p:nvPr>
        </p:nvSpPr>
        <p:spPr/>
        <p:txBody>
          <a:bodyPr>
            <a:normAutofit fontScale="92500" lnSpcReduction="10000"/>
          </a:bodyPr>
          <a:lstStyle/>
          <a:p>
            <a:r>
              <a:rPr lang="en-IN" dirty="0"/>
              <a:t>SemaphoreHandle_t xSemaphoreCreateMutex(void);</a:t>
            </a:r>
          </a:p>
          <a:p>
            <a:r>
              <a:rPr lang="en-IN" dirty="0"/>
              <a:t>BaseType_t xSemaphoreGive(</a:t>
            </a:r>
          </a:p>
          <a:p>
            <a:pPr marL="0" indent="0">
              <a:buNone/>
            </a:pPr>
            <a:r>
              <a:rPr lang="en-IN" dirty="0"/>
              <a:t>	 SemaphoreHandle_t xSemaphore  // mutex handle );</a:t>
            </a:r>
          </a:p>
          <a:p>
            <a:r>
              <a:rPr lang="en-IN" dirty="0"/>
              <a:t>void vSemaphoreDelete(</a:t>
            </a:r>
          </a:p>
          <a:p>
            <a:pPr marL="0" indent="0">
              <a:buNone/>
            </a:pPr>
            <a:r>
              <a:rPr lang="en-IN" dirty="0"/>
              <a:t>    	SemaphoreHandle_t xSemaphore  // mutex handle</a:t>
            </a:r>
          </a:p>
          <a:p>
            <a:pPr marL="0" indent="0">
              <a:buNone/>
            </a:pPr>
            <a:r>
              <a:rPr lang="en-IN" dirty="0"/>
              <a:t>);</a:t>
            </a:r>
          </a:p>
          <a:p>
            <a:r>
              <a:rPr lang="en-IN" dirty="0"/>
              <a:t>BaseType_t xSemaphoreTake(</a:t>
            </a:r>
          </a:p>
          <a:p>
            <a:pPr marL="0" indent="0">
              <a:buNone/>
            </a:pPr>
            <a:r>
              <a:rPr lang="en-IN" dirty="0"/>
              <a:t>	SemaphoreHandle_t xSemaphore,   // mutex handle</a:t>
            </a:r>
          </a:p>
          <a:p>
            <a:pPr marL="0" indent="0">
              <a:buNone/>
            </a:pPr>
            <a:r>
              <a:rPr lang="en-IN" dirty="0"/>
              <a:t>	 TickType_t        xTicksToWait  // timeout</a:t>
            </a:r>
          </a:p>
          <a:p>
            <a:pPr marL="1828800" lvl="4" indent="0">
              <a:buNone/>
            </a:pPr>
            <a:r>
              <a:rPr lang="en-IN" dirty="0"/>
              <a:t>);</a:t>
            </a:r>
          </a:p>
        </p:txBody>
      </p:sp>
    </p:spTree>
    <p:extLst>
      <p:ext uri="{BB962C8B-B14F-4D97-AF65-F5344CB8AC3E}">
        <p14:creationId xmlns:p14="http://schemas.microsoft.com/office/powerpoint/2010/main" val="40432157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03896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880</TotalTime>
  <Words>1310</Words>
  <Application>Microsoft Office PowerPoint</Application>
  <PresentationFormat>Widescreen</PresentationFormat>
  <Paragraphs>164</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Aptos Display</vt:lpstr>
      <vt:lpstr>Arial</vt:lpstr>
      <vt:lpstr>Office Theme</vt:lpstr>
      <vt:lpstr>REAL TIME OPERATING SYSTEMS</vt:lpstr>
      <vt:lpstr>WHAT IS REAL TIME APPLICATIONS?</vt:lpstr>
      <vt:lpstr>WHAT IS REAL TIME OPERATING SYSTEM</vt:lpstr>
      <vt:lpstr>WHAT IS SCHEDULER?</vt:lpstr>
      <vt:lpstr>.</vt:lpstr>
      <vt:lpstr>WHAT IS TASK?</vt:lpstr>
      <vt:lpstr>TASK CREATE AND IMPLEMENTING API’S</vt:lpstr>
      <vt:lpstr>This is happened when the task is created?</vt:lpstr>
      <vt:lpstr>WHAT IS IDLE TASK</vt:lpstr>
      <vt:lpstr>WHAT IS CONTEXT SWITCHING</vt:lpstr>
      <vt:lpstr>WHAT IS TASK STATE?</vt:lpstr>
      <vt:lpstr>WHAT IS TASK NOTIFICATION?</vt:lpstr>
      <vt:lpstr>HOW WE CAN DELETE THE TASK</vt:lpstr>
      <vt:lpstr>D/B TASK PRIORITY AND HARDWARE PRIORITY</vt:lpstr>
      <vt:lpstr>.</vt:lpstr>
      <vt:lpstr>WHAT IS HOOK FUNCTION</vt:lpstr>
      <vt:lpstr>.</vt:lpstr>
      <vt:lpstr>WHAT IS QUEUE</vt:lpstr>
      <vt:lpstr>HOW TO CREATE THE QUEUE AND SENDING DATA TO QUEUE</vt:lpstr>
      <vt:lpstr>HOW TO RECEIVE FROM QUEUE</vt:lpstr>
      <vt:lpstr>SEMAPHORE</vt:lpstr>
      <vt:lpstr>SEMAPHORE RELATED API’S</vt:lpstr>
      <vt:lpstr>WHAT IS MUTUAL EXCLUSION</vt:lpstr>
      <vt:lpstr>MUTEX REALATED API’S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vigneshwaran S</dc:creator>
  <cp:lastModifiedBy>vigneshwaran S</cp:lastModifiedBy>
  <cp:revision>1</cp:revision>
  <dcterms:created xsi:type="dcterms:W3CDTF">2026-04-26T04:35:38Z</dcterms:created>
  <dcterms:modified xsi:type="dcterms:W3CDTF">2026-04-26T19:16:28Z</dcterms:modified>
</cp:coreProperties>
</file>